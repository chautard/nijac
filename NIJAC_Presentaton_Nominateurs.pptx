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4" r:id="rId4"/>
    <p:sldId id="258" r:id="rId5"/>
    <p:sldId id="259" r:id="rId6"/>
    <p:sldId id="267" r:id="rId7"/>
    <p:sldId id="265" r:id="rId8"/>
    <p:sldId id="268" r:id="rId9"/>
    <p:sldId id="260" r:id="rId10"/>
    <p:sldId id="266" r:id="rId11"/>
    <p:sldId id="261" r:id="rId12"/>
    <p:sldId id="262" r:id="rId13"/>
    <p:sldId id="263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47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5394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3627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8681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5675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6586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8229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NIJAC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Nomination Informatisée des Juges-Arbitres Championnat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4231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Ecrans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Nominateur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286000" y="3200400"/>
            <a:ext cx="457200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4747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ECB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Ligue Normandie de Tennis de Table  •  Version 0.0.10  •  Juin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840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CB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Auteur : Patrick CHAUTARD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4320" y="46634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Ligue Normandie de Tennis de Table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Nominateur — Vue d'ensemble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71855"/>
            <a:ext cx="8412480" cy="524001"/>
          </a:xfrm>
          <a:prstGeom prst="rect">
            <a:avLst/>
          </a:prstGeom>
          <a:solidFill>
            <a:srgbClr val="FFFFFF"/>
          </a:solidFill>
          <a:ln w="25400">
            <a:solidFill>
              <a:srgbClr val="5C4033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60120"/>
            <a:ext cx="2651760" cy="347472"/>
          </a:xfrm>
          <a:prstGeom prst="rect">
            <a:avLst/>
          </a:prstGeom>
          <a:solidFill>
            <a:srgbClr val="5C4033"/>
          </a:solidFill>
          <a:ln w="12700">
            <a:solidFill>
              <a:srgbClr val="5C4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96696"/>
            <a:ext cx="50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84479" y="937030"/>
            <a:ext cx="16330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tx2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</a:t>
            </a:r>
            <a:endParaRPr lang="en-US" sz="1200" dirty="0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3246120" y="896112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/ mot de passe — redirection selon le rôle (Admin ou Nominateur)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516888"/>
            <a:ext cx="8412480" cy="573912"/>
          </a:xfrm>
          <a:prstGeom prst="rect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1609344"/>
            <a:ext cx="265176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642809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E020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49680" y="1557907"/>
            <a:ext cx="176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Nominateur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83280" y="512953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à toutes les fonctions de nomination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51460" y="2189763"/>
            <a:ext cx="8394700" cy="508063"/>
          </a:xfrm>
          <a:prstGeom prst="rect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263013"/>
            <a:ext cx="2651760" cy="34747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258441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E021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98880" y="2216311"/>
            <a:ext cx="181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Disponibilités JA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45180" y="2205548"/>
            <a:ext cx="5220970" cy="422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&amp; saisie des dispos par département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66700" y="2770538"/>
            <a:ext cx="8394700" cy="508064"/>
          </a:xfrm>
          <a:prstGeom prst="rect">
            <a:avLst/>
          </a:prstGeom>
          <a:solidFill>
            <a:srgbClr val="FFFFFF"/>
          </a:solidFill>
          <a:ln w="25400">
            <a:solidFill>
              <a:srgbClr val="1E844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2850834"/>
            <a:ext cx="2651760" cy="34747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87947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E022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43000" y="2814957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Nomination des JA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46120" y="2766919"/>
            <a:ext cx="2468880" cy="508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Nomination auto ou manuelle aux rencontres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3396061"/>
            <a:ext cx="8412480" cy="558659"/>
          </a:xfrm>
          <a:prstGeom prst="rect">
            <a:avLst/>
          </a:prstGeom>
          <a:solidFill>
            <a:srgbClr val="FFFFFF"/>
          </a:solidFill>
          <a:ln w="25400">
            <a:solidFill>
              <a:srgbClr val="E651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3515596"/>
            <a:ext cx="2651760" cy="34747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538230"/>
            <a:ext cx="50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E023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30300" y="3488735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Convocation &amp; Frais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20720" y="3377564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Convocation officielle + déclaration des frais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" y="4072179"/>
            <a:ext cx="8412480" cy="584848"/>
          </a:xfrm>
          <a:prstGeom prst="rect">
            <a:avLst/>
          </a:prstGeom>
          <a:solidFill>
            <a:srgbClr val="FFFFFF"/>
          </a:solidFill>
          <a:ln w="25400">
            <a:solidFill>
              <a:srgbClr val="C6282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5760" y="4208971"/>
            <a:ext cx="2651760" cy="34747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23380" y="4382707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E024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30300" y="4158863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d'envoi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229610" y="407553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 groupé de messages aux JA (4 types)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D607003-AA67-A912-97BD-505BEC92F336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 anchor="ctr"/>
          <a:lstStyle/>
          <a:p>
            <a:pPr algn="ctr"/>
            <a:r>
              <a:rPr lang="fr-FR" sz="2000" b="1" dirty="0">
                <a:solidFill>
                  <a:schemeClr val="bg1"/>
                </a:solidFill>
              </a:rPr>
              <a:t>Ecran de login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52C4CDCA-02FB-836F-4D48-C3A659A9F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809" y="1028019"/>
            <a:ext cx="5309279" cy="3602037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3D205A12-9ADC-15B7-E0F1-B91F1477451B}"/>
              </a:ext>
            </a:extLst>
          </p:cNvPr>
          <p:cNvSpPr txBox="1"/>
          <p:nvPr/>
        </p:nvSpPr>
        <p:spPr>
          <a:xfrm>
            <a:off x="7540171" y="1255486"/>
            <a:ext cx="13498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La saisie du mot de passe est masqué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5EF0BD2-8746-8ADA-1AE9-660BB4182093}"/>
              </a:ext>
            </a:extLst>
          </p:cNvPr>
          <p:cNvSpPr txBox="1"/>
          <p:nvPr/>
        </p:nvSpPr>
        <p:spPr>
          <a:xfrm>
            <a:off x="1553029" y="4774168"/>
            <a:ext cx="6754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 mot de passe lors de la création du compte est : </a:t>
            </a:r>
            <a:r>
              <a:rPr lang="fr-FR" dirty="0" err="1"/>
              <a:t>Change_On_Install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34686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E020 — Menu Nominateur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principal des nominateurs. Donne accès à toutes les fonctions de nomination et à la consultation des disponibilités.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Disponibilités JA (E021)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1840" y="1828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Nomination JA (E022)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26480" y="1828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d'envoi (E024)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Administrateur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9184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déconnecter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barre d'outils affiche le nom de l'utilisateur, son département et un avertissement si le mot de passe doit être changé.</a:t>
            </a:r>
            <a:endParaRPr lang="en-US" sz="1000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F12200C0-A0F3-21B4-11D2-66B09869A0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550" y="1417036"/>
            <a:ext cx="6985000" cy="32924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E007 —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Juges-Arbitres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754880" y="1490472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54880" y="2176272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54880" y="3547872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endParaRPr lang="en-US" sz="1000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7E4E7FED-294A-53CE-C231-45892E0462F1}"/>
              </a:ext>
            </a:extLst>
          </p:cNvPr>
          <p:cNvSpPr txBox="1"/>
          <p:nvPr/>
        </p:nvSpPr>
        <p:spPr>
          <a:xfrm>
            <a:off x="416560" y="4495291"/>
            <a:ext cx="7356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Plusieurs filtres sont disponibles Ex : sur Département et sur Nom et Prénom</a:t>
            </a: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0FF8AF6C-90D1-15F3-7366-397C1AE444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" y="868680"/>
            <a:ext cx="7524750" cy="35562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E021 — Disponibilités des Juges-Arbitres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754880" y="1490472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54880" y="2176272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54880" y="3547872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endParaRPr lang="en-US" sz="1000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9BAA88E-8676-D391-CE32-F2CEBC4FEA5D}"/>
              </a:ext>
            </a:extLst>
          </p:cNvPr>
          <p:cNvSpPr txBox="1"/>
          <p:nvPr/>
        </p:nvSpPr>
        <p:spPr>
          <a:xfrm>
            <a:off x="416560" y="4400041"/>
            <a:ext cx="8068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Permet de saisir les disponibilités d’un JA, qui aurais des empêchements pour le faire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7E4E7FED-294A-53CE-C231-45892E0462F1}"/>
              </a:ext>
            </a:extLst>
          </p:cNvPr>
          <p:cNvSpPr txBox="1"/>
          <p:nvPr/>
        </p:nvSpPr>
        <p:spPr>
          <a:xfrm>
            <a:off x="416560" y="4734806"/>
            <a:ext cx="4453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Filtre sur Département et sur Nom et Prénom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F51F28A-0FCD-85AA-87F6-DD8585AC8C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49" y="840469"/>
            <a:ext cx="7560640" cy="355957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7998A42-CCC0-081C-79DD-D1115D216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628" y="4456101"/>
            <a:ext cx="276264" cy="25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44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E021 — Disponibilités des Juges-Arbitres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 de l'état des déclarations de disponibilité par département.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Seuls les JA actifs sont affichés.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clic sur une carte ouvre la fiche de saisie individuelle.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2423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83464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Sélecteur de département (14, 27, 50, 61, 76)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Inclusion automatique de l'Eure (27) avec Seine-Maritime (76)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 de cartes JA : avatar, grade, nom, club, ville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 de saisir les disponibilités d'un JA qui aurait oublié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couleur des avatars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475488" cy="475488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490472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49240" y="149047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 Grade 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103120"/>
            <a:ext cx="475488" cy="47548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176272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49240" y="217627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 Grade 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788920"/>
            <a:ext cx="475488" cy="475488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2862072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349240" y="286207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 Grade 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3474720"/>
            <a:ext cx="475488" cy="4754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3547872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349240" y="354787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disponibilité déclarée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4251960"/>
            <a:ext cx="4023360" cy="685800"/>
          </a:xfrm>
          <a:prstGeom prst="rect">
            <a:avLst/>
          </a:prstGeom>
          <a:solidFill>
            <a:srgbClr val="FFF3CD"/>
          </a:solidFill>
          <a:ln w="12700">
            <a:solidFill>
              <a:srgbClr val="E6AC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42976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JA avec avatar rouge doivent être relancés pour saisir leurs disponibilités avant la nomination.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1229099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E012 —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Disponibilités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JA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754880" y="1490472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54880" y="2176272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54880" y="3547872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endParaRPr lang="en-US" sz="10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8DFD817-73C5-BA13-3EBA-B01ED9D005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650" y="964638"/>
            <a:ext cx="5356115" cy="391216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7587865E-B73E-EDCC-B1A8-E6F86109F7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3750" y="964638"/>
            <a:ext cx="3140554" cy="692712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DCB03B0F-7BE4-2C2D-0092-7B20BFAA59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3750" y="1760788"/>
            <a:ext cx="3175982" cy="1534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758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E022 — Nomination des Juges-Arbitres</a:t>
            </a:r>
            <a:endParaRPr lang="en-US" sz="2200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E87186E8-6DF5-BC21-BE58-7670EADA25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743" y="868680"/>
            <a:ext cx="7144513" cy="40977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E022 — Nomination des Juges-Arbitres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principale de nomination des JA aux rencontres de la saison.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Sélecteur de saison et de journée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des rencontres avec statut de nomination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Nomination automatique (algorithme métier)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 manuelle : clic sur une rencontre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des 5 premiers JA nominables filtrés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 groupé des convocations par email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4114800" cy="3474720"/>
          </a:xfrm>
          <a:prstGeom prst="rect">
            <a:avLst/>
          </a:prstGeom>
          <a:solidFill>
            <a:srgbClr val="F0F9F4"/>
          </a:solidFill>
          <a:ln w="12700">
            <a:solidFill>
              <a:srgbClr val="1E844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92040" y="15087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de nomination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92040" y="192024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JA ne peut pas arbitrer si son club est impliqué dans la rencontre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2 rencontres du même club par phase pour un même JA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JA ne peut arbitrer qu'une seule fois par date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 aux rencontres choisies par le JA dans ses disponibilités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 à la rencontre la plus proche du domicile du JA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 au JA ayant le moins d'arbitrages sur la phase en cours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0030698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E023 — Convocation et Frais 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de convocation officielle d'un Juge-Arbitre. Accessible via token email ou depuis E022.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5087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Informations rencontre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et heure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Équipes (domicile / extérieur)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Salle et adresse complète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5087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Informations JA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92040" y="19202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Nom, prénom, grade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calculée (km)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du JA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94560" y="3429000"/>
            <a:ext cx="4754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331720" y="352044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des frais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393192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réels aller-retour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Péages (si applicable)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Indemnité forfaitaire calculée automatiquement (selon type de compétition)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frais calculé automatiquement — bouton Enregistrer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E024 — Centre d'envoi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d'envoi groupé de messages aux JA du département. Panneau de composition (55%) + liste destinataires (45%).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508760"/>
            <a:ext cx="2011680" cy="3200400"/>
          </a:xfrm>
          <a:prstGeom prst="rect">
            <a:avLst/>
          </a:prstGeom>
          <a:solidFill>
            <a:srgbClr val="E8F4FD"/>
          </a:solidFill>
          <a:ln w="254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08760"/>
            <a:ext cx="2011680" cy="5029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58191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160020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Disponibilités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" y="2148840"/>
            <a:ext cx="179222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Envoie un message à tous les JA actifs du département pour recueillir leurs disponibilités.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68880" y="1508760"/>
            <a:ext cx="2011680" cy="3200400"/>
          </a:xfrm>
          <a:prstGeom prst="rect">
            <a:avLst/>
          </a:prstGeom>
          <a:solidFill>
            <a:srgbClr val="E8F4FD"/>
          </a:solidFill>
          <a:ln w="25400">
            <a:solidFill>
              <a:srgbClr val="1E844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68880" y="1508760"/>
            <a:ext cx="2011680" cy="50292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42032" y="158191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926080" y="160020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dispo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78608" y="2148840"/>
            <a:ext cx="179222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Envoie un rappel uniquement aux JA actifs n'ayant saisi aucune disponibilité pour la saison en cours.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17720" y="1508760"/>
            <a:ext cx="2011680" cy="3200400"/>
          </a:xfrm>
          <a:prstGeom prst="rect">
            <a:avLst/>
          </a:prstGeom>
          <a:solidFill>
            <a:srgbClr val="E8F4FD"/>
          </a:solidFill>
          <a:ln w="25400">
            <a:solidFill>
              <a:srgbClr val="E651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1508760"/>
            <a:ext cx="2011680" cy="5029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90872" y="158191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74920" y="160020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Convocation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27448" y="2148840"/>
            <a:ext cx="179222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Envoie les convocations aux JA nommés pour une journée sélectionnable avec infos du match.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6560" y="1508760"/>
            <a:ext cx="2011680" cy="3200400"/>
          </a:xfrm>
          <a:prstGeom prst="rect">
            <a:avLst/>
          </a:prstGeom>
          <a:solidFill>
            <a:srgbClr val="E8F4FD"/>
          </a:solidFill>
          <a:ln w="25400">
            <a:solidFill>
              <a:srgbClr val="C6282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766560" y="1508760"/>
            <a:ext cx="2011680" cy="50292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39712" y="158191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223760" y="160020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nomination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76288" y="2148840"/>
            <a:ext cx="179222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Envoie à chaque JA la liste complète de ses nominations pour la phase en cours (tableau HTML).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Récapitulatif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71600" y="1234440"/>
            <a:ext cx="91440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12801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E020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423160" y="12801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Nominateur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1828800"/>
            <a:ext cx="91440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1874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E021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423160" y="18745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Disponibilités JA — suivi par département avec code couleur grade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371600" y="2423160"/>
            <a:ext cx="91440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24688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E022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23160" y="24688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Nomination — algorithme automatique + 6 règles métier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371600" y="3017520"/>
            <a:ext cx="91440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3063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E023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423160" y="30632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Convocation officielle + saisie &amp; calcul des frais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371600" y="3611880"/>
            <a:ext cx="91440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3657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E024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423160" y="36576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d'envoi — 4 types de messages groupés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4320" y="448056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Ligue Normandie de Tennis de Table  •  Patrick CHAUTARD  •  Juin 2026</a:t>
            </a:r>
            <a:endParaRPr lang="en-US" sz="1100" dirty="0"/>
          </a:p>
        </p:txBody>
      </p:sp>
      <p:sp>
        <p:nvSpPr>
          <p:cNvPr id="20" name="Shape 2">
            <a:extLst>
              <a:ext uri="{FF2B5EF4-FFF2-40B4-BE49-F238E27FC236}">
                <a16:creationId xmlns:a16="http://schemas.microsoft.com/office/drawing/2014/main" id="{8C5F6654-CD6B-34B7-9078-EBE4CD0C61B6}"/>
              </a:ext>
            </a:extLst>
          </p:cNvPr>
          <p:cNvSpPr/>
          <p:nvPr/>
        </p:nvSpPr>
        <p:spPr>
          <a:xfrm>
            <a:off x="1371600" y="699516"/>
            <a:ext cx="91440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 anchor="ctr"/>
          <a:lstStyle/>
          <a:p>
            <a:pPr algn="ctr"/>
            <a:r>
              <a:rPr lang="fr-FR" sz="1200" b="1" dirty="0"/>
              <a:t>E001</a:t>
            </a:r>
          </a:p>
        </p:txBody>
      </p:sp>
      <p:sp>
        <p:nvSpPr>
          <p:cNvPr id="21" name="Text 4">
            <a:extLst>
              <a:ext uri="{FF2B5EF4-FFF2-40B4-BE49-F238E27FC236}">
                <a16:creationId xmlns:a16="http://schemas.microsoft.com/office/drawing/2014/main" id="{05E4EEF8-B81E-3439-F377-242DFC73B6F9}"/>
              </a:ext>
            </a:extLst>
          </p:cNvPr>
          <p:cNvSpPr/>
          <p:nvPr/>
        </p:nvSpPr>
        <p:spPr>
          <a:xfrm>
            <a:off x="2423160" y="745236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Login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549</TotalTime>
  <Words>762</Words>
  <Application>Microsoft Office PowerPoint</Application>
  <PresentationFormat>Affichage à l'écran (16:9)</PresentationFormat>
  <Paragraphs>143</Paragraphs>
  <Slides>13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NIJAC - Nouveaux écrans Nominateurs</dc:title>
  <dc:subject>PptxGenJS Presentation</dc:subject>
  <dc:creator>Patrick CHAUTARD</dc:creator>
  <cp:lastModifiedBy>Patrick CHAUTARD</cp:lastModifiedBy>
  <cp:revision>10</cp:revision>
  <dcterms:created xsi:type="dcterms:W3CDTF">2026-06-18T07:00:07Z</dcterms:created>
  <dcterms:modified xsi:type="dcterms:W3CDTF">2026-06-18T16:12:16Z</dcterms:modified>
</cp:coreProperties>
</file>