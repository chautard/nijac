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64" r:id="rId3"/>
    <p:sldId id="257" r:id="rId4"/>
    <p:sldId id="265" r:id="rId5"/>
    <p:sldId id="258" r:id="rId6"/>
    <p:sldId id="266" r:id="rId7"/>
    <p:sldId id="267" r:id="rId8"/>
    <p:sldId id="259" r:id="rId9"/>
    <p:sldId id="268" r:id="rId10"/>
    <p:sldId id="269" r:id="rId11"/>
    <p:sldId id="261" r:id="rId12"/>
    <p:sldId id="270" r:id="rId13"/>
    <p:sldId id="271" r:id="rId14"/>
    <p:sldId id="262" r:id="rId15"/>
    <p:sldId id="272" r:id="rId16"/>
    <p:sldId id="273" r:id="rId17"/>
    <p:sldId id="263" r:id="rId18"/>
    <p:sldId id="274" r:id="rId19"/>
    <p:sldId id="275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2" d="100"/>
          <a:sy n="112" d="100"/>
        </p:scale>
        <p:origin x="948" y="-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962961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8288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kern="0" spc="6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NIJAC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286000"/>
            <a:ext cx="10972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Guide des écrans — Juges-arbitres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65760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pages que vous rencontrez sans jamais vous connecter :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 arrive par des liens personnels reçus par e-mail.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126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Ligue Normandie de Tennis de Table · Captures sur environnement de test — données fictives.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68680"/>
          </a:xfrm>
          <a:prstGeom prst="rect">
            <a:avLst/>
          </a:prstGeom>
          <a:solidFill>
            <a:srgbClr val="2C5F2D"/>
          </a:solidFill>
          <a:ln>
            <a:solidFill>
              <a:srgbClr val="2C5F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 i="0">
                <a:solidFill>
                  <a:srgbClr val="97BC62"/>
                </a:solidFill>
                <a:latin typeface="Cambria"/>
              </a:rPr>
              <a:t>E001   </a:t>
            </a:r>
            <a:r>
              <a:rPr sz="2000" b="1" i="0">
                <a:solidFill>
                  <a:srgbClr val="FFFFFF"/>
                </a:solidFill>
                <a:latin typeface="Cambria"/>
              </a:rPr>
              <a:t>À propos de NIJAC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6400800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</a:pPr>
            <a:r>
              <a:rPr sz="1300" b="1" i="0">
                <a:solidFill>
                  <a:srgbClr val="18222E"/>
                </a:solidFill>
                <a:latin typeface="Calibri"/>
              </a:rPr>
              <a:t>NIJAC — Nomination Informatisée des Juges-Arbitres Championnat</a:t>
            </a:r>
          </a:p>
          <a:p>
            <a:pPr>
              <a:spcAft>
                <a:spcPts val="1200"/>
              </a:spcAft>
            </a:pPr>
            <a:r>
              <a:rPr sz="1100" b="0" i="0">
                <a:solidFill>
                  <a:srgbClr val="18222E"/>
                </a:solidFill>
                <a:latin typeface="Calibri"/>
              </a:rPr>
              <a:t>Application web de la Ligue de Normandie de Tennis de Table. Elle couvre tout le cycle d'une nomination : import des juges-arbitres depuis la FFTT, saisie des disponibilités, affectation aux rencontres, envoi des convocations et saisie des frais de déplacement.</a:t>
            </a:r>
          </a:p>
          <a:p>
            <a:pPr>
              <a:spcAft>
                <a:spcPts val="1400"/>
              </a:spcAft>
            </a:pPr>
            <a:r>
              <a:rPr sz="1100" b="0" i="0">
                <a:solidFill>
                  <a:srgbClr val="586675"/>
                </a:solidFill>
                <a:latin typeface="Calibri"/>
              </a:rPr>
              <a:t>L'écran ci-contre est la connexion des nominateurs et administrateurs. Vous, juge-arbitre, ne l'utilisez jamais : tout vous parvient par des liens personnels reçus par e-mail.</a:t>
            </a:r>
          </a:p>
          <a:p>
            <a:pPr>
              <a:spcAft>
                <a:spcPts val="400"/>
              </a:spcAft>
            </a:pPr>
            <a:r>
              <a:rPr sz="1300" b="1" i="0">
                <a:solidFill>
                  <a:srgbClr val="2C5F2D"/>
                </a:solidFill>
                <a:latin typeface="Calibri"/>
              </a:rPr>
              <a:t>Logiciel libre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18222E"/>
                </a:solidFill>
                <a:latin typeface="Calibri"/>
              </a:rPr>
              <a:t>Code source public, licence libre, signalement de bugs et suggestions (issues) sur GitHub :</a:t>
            </a:r>
          </a:p>
          <a:p>
            <a:pPr>
              <a:spcAft>
                <a:spcPts val="0"/>
              </a:spcAft>
            </a:pPr>
            <a:r>
              <a:rPr sz="1200" b="1" i="0">
                <a:solidFill>
                  <a:srgbClr val="2C5F2D"/>
                </a:solidFill>
                <a:latin typeface="Calibri"/>
              </a:rPr>
              <a:t>https://github.com/CHAUTARD/NIJAC</a:t>
            </a:r>
          </a:p>
        </p:txBody>
      </p:sp>
      <p:pic>
        <p:nvPicPr>
          <p:cNvPr id="5" name="Picture 4" descr="E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0" y="1371600"/>
            <a:ext cx="4754880" cy="3343275"/>
          </a:xfrm>
          <a:prstGeom prst="rect">
            <a:avLst/>
          </a:prstGeom>
          <a:ln w="12700">
            <a:solidFill>
              <a:srgbClr val="DDE3EA"/>
            </a:solidFill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Partie 1 — Juges-arbitres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3716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8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Vous n'avez ni identifiant ni mot de passe. Tout passe par des liens personnels reçus par e-mail.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194560"/>
            <a:ext cx="1042416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8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Vous ne vous connectez jamais à NIJAC : il n'y a ni identifiant ni mot de passe pour un juge-arbitre.</a:t>
            </a:r>
            <a:endParaRPr lang="en-US" sz="1600" dirty="0"/>
          </a:p>
          <a:p>
            <a:pPr marL="152400" indent="-1524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8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Vous recevez des e-mails de la ligue. Chaque e-mail contient un lien personnel qui vous est propre.</a:t>
            </a:r>
            <a:endParaRPr lang="en-US" sz="1600" dirty="0"/>
          </a:p>
          <a:p>
            <a:pPr marL="152400" indent="-1524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8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lien ouvre une page où vous saisissez ou vérifiez une information : votre adresse, vos disponibilités, vos frais après une rencontre.</a:t>
            </a:r>
            <a:endParaRPr lang="en-US" sz="1600" dirty="0"/>
          </a:p>
          <a:p>
            <a:pPr marL="152400" indent="-1524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8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lien reste valable tant que l'information est utile. S'il ne fonctionne plus, redemandez-le au nominateur de votre département.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68680"/>
          </a:xfrm>
          <a:prstGeom prst="rect">
            <a:avLst/>
          </a:prstGeom>
          <a:solidFill>
            <a:srgbClr val="2C5F2D"/>
          </a:solidFill>
          <a:ln>
            <a:solidFill>
              <a:srgbClr val="2C5F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 i="0">
                <a:solidFill>
                  <a:srgbClr val="97BC62"/>
                </a:solidFill>
                <a:latin typeface="Cambria"/>
              </a:rPr>
              <a:t>EN19   </a:t>
            </a:r>
            <a:r>
              <a:rPr sz="2000" b="1" i="0">
                <a:solidFill>
                  <a:srgbClr val="FFFFFF"/>
                </a:solidFill>
                <a:latin typeface="Cambria"/>
              </a:rPr>
              <a:t>Message envoyé  —  Adresse du domicile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43000"/>
            <a:ext cx="10908792" cy="5440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33272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 i="0">
                <a:solidFill>
                  <a:srgbClr val="586675"/>
                </a:solidFill>
                <a:latin typeface="Calibri"/>
              </a:rPr>
              <a:t>De : </a:t>
            </a:r>
            <a:r>
              <a:rPr sz="1200" b="0" i="0">
                <a:solidFill>
                  <a:srgbClr val="18222E"/>
                </a:solidFill>
                <a:latin typeface="Calibri"/>
              </a:rPr>
              <a:t>Jean MARTIN &lt;nijac@ligue-normandie-tt.fr&gt;</a:t>
            </a:r>
          </a:p>
          <a:p>
            <a:r>
              <a:rPr sz="1200" b="1" i="0">
                <a:solidFill>
                  <a:srgbClr val="586675"/>
                </a:solidFill>
                <a:latin typeface="Calibri"/>
              </a:rPr>
              <a:t>À : </a:t>
            </a:r>
            <a:r>
              <a:rPr sz="1200" b="0" i="0">
                <a:solidFill>
                  <a:srgbClr val="18222E"/>
                </a:solidFill>
                <a:latin typeface="Calibri"/>
              </a:rPr>
              <a:t>Camille DURAND &lt;camille.durand@example.fr&gt;</a:t>
            </a:r>
          </a:p>
          <a:p>
            <a:r>
              <a:rPr sz="1200" b="1" i="0">
                <a:solidFill>
                  <a:srgbClr val="586675"/>
                </a:solidFill>
                <a:latin typeface="Calibri"/>
              </a:rPr>
              <a:t>Objet : </a:t>
            </a:r>
            <a:r>
              <a:rPr sz="1200" b="0" i="0">
                <a:solidFill>
                  <a:srgbClr val="18222E"/>
                </a:solidFill>
                <a:latin typeface="Calibri"/>
              </a:rPr>
              <a:t>CRA - Demande d'adresse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697480"/>
            <a:ext cx="10332720" cy="9525"/>
          </a:xfrm>
          <a:prstGeom prst="rect">
            <a:avLst/>
          </a:prstGeom>
          <a:solidFill>
            <a:srgbClr val="DDE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2834640"/>
            <a:ext cx="1033272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200"/>
              </a:spcAft>
            </a:pPr>
            <a:r>
              <a:rPr sz="1100" b="0" i="0">
                <a:solidFill>
                  <a:srgbClr val="18222E"/>
                </a:solidFill>
                <a:latin typeface="Calibri"/>
              </a:rPr>
              <a:t>Bonjour Camille DURAND,</a:t>
            </a:r>
          </a:p>
          <a:p>
            <a:pPr>
              <a:spcAft>
                <a:spcPts val="200"/>
              </a:spcAft>
            </a:pPr>
            <a:r>
              <a:rPr sz="1100" b="0" i="0">
                <a:solidFill>
                  <a:srgbClr val="18222E"/>
                </a:solidFill>
                <a:latin typeface="Calibri"/>
              </a:rPr>
              <a:t> </a:t>
            </a:r>
          </a:p>
          <a:p>
            <a:pPr>
              <a:spcAft>
                <a:spcPts val="200"/>
              </a:spcAft>
            </a:pPr>
            <a:r>
              <a:rPr sz="1100" b="0" i="0">
                <a:solidFill>
                  <a:srgbClr val="18222E"/>
                </a:solidFill>
                <a:latin typeface="Calibri"/>
              </a:rPr>
              <a:t>Vous venez d'être ajouté(e) à la liste des Juges Arbitres dans l'application Nomination Informatisée des Juges Arbitres de la région Normandie.</a:t>
            </a:r>
          </a:p>
          <a:p>
            <a:pPr>
              <a:spcAft>
                <a:spcPts val="200"/>
              </a:spcAft>
            </a:pPr>
            <a:r>
              <a:rPr sz="1100" b="0" i="0">
                <a:solidFill>
                  <a:srgbClr val="18222E"/>
                </a:solidFill>
                <a:latin typeface="Calibri"/>
              </a:rPr>
              <a:t>Afin de pouvoir traiter au mieux vos convocations pour l'arbitrage nous aurions besoin de connaître votre code postal et votre ville.</a:t>
            </a:r>
          </a:p>
          <a:p>
            <a:pPr>
              <a:spcAft>
                <a:spcPts val="200"/>
              </a:spcAft>
            </a:pPr>
            <a:r>
              <a:rPr sz="1100" b="0" i="0">
                <a:solidFill>
                  <a:srgbClr val="18222E"/>
                </a:solidFill>
                <a:latin typeface="Calibri"/>
              </a:rPr>
              <a:t> </a:t>
            </a:r>
          </a:p>
          <a:p>
            <a:pPr>
              <a:spcAft>
                <a:spcPts val="200"/>
              </a:spcAft>
            </a:pPr>
            <a:r>
              <a:rPr sz="1100" b="0" i="0">
                <a:solidFill>
                  <a:srgbClr val="18222E"/>
                </a:solidFill>
                <a:latin typeface="Calibri"/>
              </a:rPr>
              <a:t>Veuillez remplir le questionnaire ci-joint :</a:t>
            </a:r>
          </a:p>
          <a:p>
            <a:pPr>
              <a:spcAft>
                <a:spcPts val="200"/>
              </a:spcAft>
            </a:pPr>
            <a:r>
              <a:rPr sz="1100" b="0" i="0">
                <a:solidFill>
                  <a:srgbClr val="18222E"/>
                </a:solidFill>
                <a:latin typeface="Calibri"/>
              </a:rPr>
              <a:t>https://www.ligue-normandie-tt.fr/nijac/adresse-ja?ja=A1b2C3d4</a:t>
            </a:r>
          </a:p>
          <a:p>
            <a:pPr>
              <a:spcAft>
                <a:spcPts val="200"/>
              </a:spcAft>
            </a:pPr>
            <a:r>
              <a:rPr sz="1100" b="0" i="0">
                <a:solidFill>
                  <a:srgbClr val="18222E"/>
                </a:solidFill>
                <a:latin typeface="Calibri"/>
              </a:rPr>
              <a:t> </a:t>
            </a:r>
          </a:p>
          <a:p>
            <a:pPr>
              <a:spcAft>
                <a:spcPts val="200"/>
              </a:spcAft>
            </a:pPr>
            <a:r>
              <a:rPr sz="1100" b="0" i="0">
                <a:solidFill>
                  <a:srgbClr val="18222E"/>
                </a:solidFill>
                <a:latin typeface="Calibri"/>
              </a:rPr>
              <a:t>Si vous ne trouvez pas votre commune, validez la commune la plus proche.</a:t>
            </a:r>
          </a:p>
          <a:p>
            <a:pPr>
              <a:spcAft>
                <a:spcPts val="200"/>
              </a:spcAft>
            </a:pPr>
            <a:r>
              <a:rPr sz="1100" b="0" i="0">
                <a:solidFill>
                  <a:srgbClr val="18222E"/>
                </a:solidFill>
                <a:latin typeface="Calibri"/>
              </a:rPr>
              <a:t> </a:t>
            </a:r>
          </a:p>
          <a:p>
            <a:pPr>
              <a:spcAft>
                <a:spcPts val="200"/>
              </a:spcAft>
            </a:pPr>
            <a:r>
              <a:rPr sz="1100" b="0" i="0">
                <a:solidFill>
                  <a:srgbClr val="18222E"/>
                </a:solidFill>
                <a:latin typeface="Calibri"/>
              </a:rPr>
              <a:t>Cordialement</a:t>
            </a:r>
          </a:p>
          <a:p>
            <a:pPr>
              <a:spcAft>
                <a:spcPts val="200"/>
              </a:spcAft>
            </a:pPr>
            <a:r>
              <a:rPr sz="1100" b="0" i="0">
                <a:solidFill>
                  <a:srgbClr val="18222E"/>
                </a:solidFill>
                <a:latin typeface="Calibri"/>
              </a:rPr>
              <a:t> </a:t>
            </a:r>
          </a:p>
          <a:p>
            <a:pPr>
              <a:spcAft>
                <a:spcPts val="200"/>
              </a:spcAft>
            </a:pPr>
            <a:r>
              <a:rPr sz="1100" b="0" i="0">
                <a:solidFill>
                  <a:srgbClr val="18222E"/>
                </a:solidFill>
                <a:latin typeface="Calibri"/>
              </a:rPr>
              <a:t>Jean MARTIN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565392"/>
            <a:ext cx="10908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 i="1">
                <a:solidFill>
                  <a:srgbClr val="586675"/>
                </a:solidFill>
                <a:latin typeface="Calibri"/>
              </a:rPr>
              <a:t>Modèle : messagerie ID 5 - type « Demande adresse »  —  variables {…} remplacées à l'envoi (données fictives).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68680" cy="384048"/>
          </a:xfrm>
          <a:prstGeom prst="roundRect">
            <a:avLst>
              <a:gd name="adj" fmla="val 19048"/>
            </a:avLst>
          </a:prstGeom>
          <a:solidFill>
            <a:srgbClr val="2C5F2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868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EN19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554480" y="384048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82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Adresse du domicile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51560"/>
            <a:ext cx="5669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Où : </a:t>
            </a:r>
            <a:r>
              <a:rPr lang="en-US" sz="1100" i="1" dirty="0">
                <a:solidFill>
                  <a:srgbClr val="58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Lien « adresse » envoyé depuis la gestion des JA (EN11).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82880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VOUS DEVEZ FAIRE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176272"/>
            <a:ext cx="55321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8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Vérifier l'adresse actuellement enregistrée, affichée en haut.</a:t>
            </a:r>
            <a:endParaRPr lang="en-US" sz="1150" dirty="0"/>
          </a:p>
          <a:p>
            <a:pPr marL="152400" indent="-1524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8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Saisir votre code postal seul, votre ville seule, ou les deux, puis lancer la recherche.</a:t>
            </a:r>
            <a:endParaRPr lang="en-US" sz="1150" dirty="0"/>
          </a:p>
          <a:p>
            <a:pPr marL="152400" indent="-1524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8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plusieurs communes correspondent, cliquer sur la bonne dans la liste.</a:t>
            </a:r>
            <a:endParaRPr lang="en-US" sz="1150" dirty="0"/>
          </a:p>
          <a:p>
            <a:pPr marL="152400" indent="-1524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8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Grande ville à plusieurs codes postaux (Rouen…) : saisir le code postal exact de votre justificatif de domicile.</a:t>
            </a:r>
            <a:endParaRPr lang="en-US" sz="1150" dirty="0"/>
          </a:p>
          <a:p>
            <a:pPr marL="152400" indent="-1524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8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Cliquer « Enregistrer mon adresse ».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325112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SAVOIR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4672584"/>
            <a:ext cx="5532120" cy="1636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8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Cette adresse sert à calculer votre kilométrage pour les convocations et la défiscalisation : un code postal erroné fausse tous vos frais.</a:t>
            </a:r>
            <a:endParaRPr lang="en-US" sz="1150" dirty="0"/>
          </a:p>
        </p:txBody>
      </p:sp>
      <p:pic>
        <p:nvPicPr>
          <p:cNvPr id="10" name="Image 0" descr="C:/Users/Moi/AppData/Local/Temp/claude/F--wamp64-www-NIJAC/0c2a83f6-d373-4c94-82f4-67bcd12b450a/scratchpad/img/EN1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2101832"/>
            <a:ext cx="4937760" cy="347729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56032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1" i="0">
                <a:solidFill>
                  <a:srgbClr val="2C5F2D"/>
                </a:solidFill>
                <a:latin typeface="Cambria"/>
              </a:rPr>
              <a:t>EN19   </a:t>
            </a:r>
            <a:r>
              <a:rPr sz="1400" b="1" i="0">
                <a:solidFill>
                  <a:srgbClr val="18222E"/>
                </a:solidFill>
                <a:latin typeface="Cambria"/>
              </a:rPr>
              <a:t>Adresse du domicile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6823" y="868680"/>
            <a:ext cx="8258048" cy="5806440"/>
          </a:xfrm>
          <a:prstGeom prst="rect">
            <a:avLst/>
          </a:prstGeom>
          <a:ln w="12700">
            <a:solidFill>
              <a:srgbClr val="DDE3EA"/>
            </a:solidFill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68680"/>
          </a:xfrm>
          <a:prstGeom prst="rect">
            <a:avLst/>
          </a:prstGeom>
          <a:solidFill>
            <a:srgbClr val="2C5F2D"/>
          </a:solidFill>
          <a:ln>
            <a:solidFill>
              <a:srgbClr val="2C5F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 i="0">
                <a:solidFill>
                  <a:srgbClr val="97BC62"/>
                </a:solidFill>
                <a:latin typeface="Cambria"/>
              </a:rPr>
              <a:t>EN22   </a:t>
            </a:r>
            <a:r>
              <a:rPr sz="2000" b="1" i="0">
                <a:solidFill>
                  <a:srgbClr val="FFFFFF"/>
                </a:solidFill>
                <a:latin typeface="Cambria"/>
              </a:rPr>
              <a:t>Message envoyé  —  Disponibilités (1re phase)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43000"/>
            <a:ext cx="10908792" cy="5440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33272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 i="0">
                <a:solidFill>
                  <a:srgbClr val="586675"/>
                </a:solidFill>
                <a:latin typeface="Calibri"/>
              </a:rPr>
              <a:t>De : </a:t>
            </a:r>
            <a:r>
              <a:rPr sz="1200" b="0" i="0">
                <a:solidFill>
                  <a:srgbClr val="18222E"/>
                </a:solidFill>
                <a:latin typeface="Calibri"/>
              </a:rPr>
              <a:t>Jean MARTIN &lt;nijac@ligue-normandie-tt.fr&gt;</a:t>
            </a:r>
          </a:p>
          <a:p>
            <a:r>
              <a:rPr sz="1200" b="1" i="0">
                <a:solidFill>
                  <a:srgbClr val="586675"/>
                </a:solidFill>
                <a:latin typeface="Calibri"/>
              </a:rPr>
              <a:t>À : </a:t>
            </a:r>
            <a:r>
              <a:rPr sz="1200" b="0" i="0">
                <a:solidFill>
                  <a:srgbClr val="18222E"/>
                </a:solidFill>
                <a:latin typeface="Calibri"/>
              </a:rPr>
              <a:t>Camille DURAND &lt;camille.durand@example.fr&gt;</a:t>
            </a:r>
          </a:p>
          <a:p>
            <a:r>
              <a:rPr sz="1200" b="1" i="0">
                <a:solidFill>
                  <a:srgbClr val="586675"/>
                </a:solidFill>
                <a:latin typeface="Calibri"/>
              </a:rPr>
              <a:t>Objet : </a:t>
            </a:r>
            <a:r>
              <a:rPr sz="1200" b="0" i="0">
                <a:solidFill>
                  <a:srgbClr val="18222E"/>
                </a:solidFill>
                <a:latin typeface="Calibri"/>
              </a:rPr>
              <a:t>Arbitrage de la nouvelle phase du championnat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697480"/>
            <a:ext cx="10332720" cy="9525"/>
          </a:xfrm>
          <a:prstGeom prst="rect">
            <a:avLst/>
          </a:prstGeom>
          <a:solidFill>
            <a:srgbClr val="DDE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2834640"/>
            <a:ext cx="1033272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200"/>
              </a:spcAft>
            </a:pPr>
            <a:r>
              <a:rPr sz="1100" b="0" i="0">
                <a:solidFill>
                  <a:srgbClr val="18222E"/>
                </a:solidFill>
                <a:latin typeface="Calibri"/>
              </a:rPr>
              <a:t>Bonjour Camille DURAND,</a:t>
            </a:r>
          </a:p>
          <a:p>
            <a:pPr>
              <a:spcAft>
                <a:spcPts val="200"/>
              </a:spcAft>
            </a:pPr>
            <a:r>
              <a:rPr sz="1100" b="0" i="0">
                <a:solidFill>
                  <a:srgbClr val="18222E"/>
                </a:solidFill>
                <a:latin typeface="Calibri"/>
              </a:rPr>
              <a:t> </a:t>
            </a:r>
          </a:p>
          <a:p>
            <a:pPr>
              <a:spcAft>
                <a:spcPts val="200"/>
              </a:spcAft>
            </a:pPr>
            <a:r>
              <a:rPr sz="1100" b="0" i="0">
                <a:solidFill>
                  <a:srgbClr val="18222E"/>
                </a:solidFill>
                <a:latin typeface="Calibri"/>
              </a:rPr>
              <a:t>Ci-joint le lien pour la saisie de vos disponibilités pour les arbitrages du Championnat Phase 1 2025 / 2026.</a:t>
            </a:r>
          </a:p>
          <a:p>
            <a:pPr>
              <a:spcAft>
                <a:spcPts val="200"/>
              </a:spcAft>
            </a:pPr>
            <a:r>
              <a:rPr sz="1100" b="0" i="0">
                <a:solidFill>
                  <a:srgbClr val="18222E"/>
                </a:solidFill>
                <a:latin typeface="Calibri"/>
              </a:rPr>
              <a:t> </a:t>
            </a:r>
          </a:p>
          <a:p>
            <a:pPr>
              <a:spcAft>
                <a:spcPts val="200"/>
              </a:spcAft>
            </a:pPr>
            <a:r>
              <a:rPr sz="1100" b="0" i="0">
                <a:solidFill>
                  <a:srgbClr val="18222E"/>
                </a:solidFill>
                <a:latin typeface="Calibri"/>
              </a:rPr>
              <a:t>https://www.ligue-normandie-tt.fr/nijac/disponibilite-ja?ja=A1b2C3d4</a:t>
            </a:r>
          </a:p>
          <a:p>
            <a:pPr>
              <a:spcAft>
                <a:spcPts val="200"/>
              </a:spcAft>
            </a:pPr>
            <a:r>
              <a:rPr sz="1100" b="0" i="0">
                <a:solidFill>
                  <a:srgbClr val="18222E"/>
                </a:solidFill>
                <a:latin typeface="Calibri"/>
              </a:rPr>
              <a:t> </a:t>
            </a:r>
          </a:p>
          <a:p>
            <a:pPr>
              <a:spcAft>
                <a:spcPts val="200"/>
              </a:spcAft>
            </a:pPr>
            <a:r>
              <a:rPr sz="1100" b="0" i="0">
                <a:solidFill>
                  <a:srgbClr val="18222E"/>
                </a:solidFill>
                <a:latin typeface="Calibri"/>
              </a:rPr>
              <a:t>Cordialement</a:t>
            </a:r>
          </a:p>
          <a:p>
            <a:pPr>
              <a:spcAft>
                <a:spcPts val="200"/>
              </a:spcAft>
            </a:pPr>
            <a:r>
              <a:rPr sz="1100" b="0" i="0">
                <a:solidFill>
                  <a:srgbClr val="18222E"/>
                </a:solidFill>
                <a:latin typeface="Calibri"/>
              </a:rPr>
              <a:t> </a:t>
            </a:r>
          </a:p>
          <a:p>
            <a:pPr>
              <a:spcAft>
                <a:spcPts val="200"/>
              </a:spcAft>
            </a:pPr>
            <a:r>
              <a:rPr sz="1100" b="0" i="0">
                <a:solidFill>
                  <a:srgbClr val="18222E"/>
                </a:solidFill>
                <a:latin typeface="Calibri"/>
              </a:rPr>
              <a:t>Jean MARTIN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565392"/>
            <a:ext cx="10908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 i="1">
                <a:solidFill>
                  <a:srgbClr val="586675"/>
                </a:solidFill>
                <a:latin typeface="Calibri"/>
              </a:rPr>
              <a:t>Modèle : messagerie ID 1 - type « Disponibilites »  —  variables {…} remplacées à l'envoi (données fictives).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457200"/>
            <a:ext cx="868680" cy="384048"/>
          </a:xfrm>
          <a:prstGeom prst="roundRect">
            <a:avLst>
              <a:gd name="adj" fmla="val 19048"/>
            </a:avLst>
          </a:prstGeom>
          <a:solidFill>
            <a:srgbClr val="2C5F2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943600" y="457200"/>
            <a:ext cx="868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EN22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949440" y="384048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82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Disponibilités (1re phase)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943600" y="1051560"/>
            <a:ext cx="5669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Où : </a:t>
            </a:r>
            <a:r>
              <a:rPr lang="en-US" sz="1100" i="1" dirty="0">
                <a:solidFill>
                  <a:srgbClr val="58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Lien « disponibilités » envoyé en début de phase depuis EN11, ou ouvert pour vous par le nominateur (EN13).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943600" y="182880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VOUS DEVEZ FAIRE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6080760" y="2176272"/>
            <a:ext cx="5532120" cy="1517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8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le calendrier, </a:t>
            </a:r>
            <a:r>
              <a:rPr lang="en-US" sz="1150" dirty="0" err="1">
                <a:solidFill>
                  <a:srgbClr val="18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cliquer</a:t>
            </a:r>
            <a:r>
              <a:rPr lang="en-US" sz="1150" dirty="0">
                <a:solidFill>
                  <a:srgbClr val="18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sur </a:t>
            </a:r>
            <a:r>
              <a:rPr lang="en-US" sz="1150" dirty="0" err="1">
                <a:solidFill>
                  <a:srgbClr val="18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</a:t>
            </a:r>
            <a:r>
              <a:rPr lang="en-US" sz="1150" dirty="0">
                <a:solidFill>
                  <a:srgbClr val="18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journée et choisir : Disponible, Non disponible, Pas encore défini.</a:t>
            </a:r>
            <a:endParaRPr lang="en-US" sz="1150" dirty="0"/>
          </a:p>
          <a:p>
            <a:pPr marL="152400" indent="-1524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8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Cocher « Défiscalisation » si vous abandonnez vos frais au profit de la ligue (reçu fiscal).</a:t>
            </a:r>
            <a:endParaRPr lang="en-US" sz="1150" dirty="0"/>
          </a:p>
          <a:p>
            <a:pPr marL="152400" indent="-1524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8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Bouton « Note » pour signaler une contrainte particulière.</a:t>
            </a:r>
            <a:endParaRPr lang="en-US" sz="1150" dirty="0"/>
          </a:p>
          <a:p>
            <a:pPr marL="152400" indent="-1524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8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bas : « J'accepte d'arbitrer dans un ou plusieurs départements voisins », puis cocher les départements.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5943600" y="4014216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SAVOIR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080760" y="4361688"/>
            <a:ext cx="5532120" cy="1947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8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journée sans réponse reste « Pas de réponse » (gris) : vous ne serez pas retenu pour cette date.</a:t>
            </a:r>
            <a:endParaRPr lang="en-US" sz="1150" dirty="0"/>
          </a:p>
          <a:p>
            <a:pPr marL="152400" indent="-1524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8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Passer une date en « Non disponible » alors que </a:t>
            </a:r>
            <a:r>
              <a:rPr lang="en-US" sz="1150" dirty="0" err="1">
                <a:solidFill>
                  <a:srgbClr val="58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vous</a:t>
            </a:r>
            <a:r>
              <a:rPr lang="en-US" sz="1150" dirty="0">
                <a:solidFill>
                  <a:srgbClr val="58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58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êtes</a:t>
            </a:r>
            <a:r>
              <a:rPr lang="en-US" sz="1150" dirty="0">
                <a:solidFill>
                  <a:srgbClr val="58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déjà désigné : un message vous invite à prévenir votre nominateur.</a:t>
            </a:r>
            <a:endParaRPr lang="en-US" sz="1150" dirty="0"/>
          </a:p>
          <a:p>
            <a:pPr marL="152400" indent="-1524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8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refaire à chaque phase.</a:t>
            </a:r>
            <a:endParaRPr lang="en-US" sz="1150" dirty="0"/>
          </a:p>
        </p:txBody>
      </p:sp>
      <p:pic>
        <p:nvPicPr>
          <p:cNvPr id="10" name="Image 0" descr="C:/Users/Moi/AppData/Local/Temp/claude/F--wamp64-www-NIJAC/0c2a83f6-d373-4c94-82f4-67bcd12b450a/scratchpad/img/EN2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101832"/>
            <a:ext cx="4937760" cy="347729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56032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1" i="0">
                <a:solidFill>
                  <a:srgbClr val="2C5F2D"/>
                </a:solidFill>
                <a:latin typeface="Cambria"/>
              </a:rPr>
              <a:t>EN22   </a:t>
            </a:r>
            <a:r>
              <a:rPr sz="1400" b="1" i="0">
                <a:solidFill>
                  <a:srgbClr val="18222E"/>
                </a:solidFill>
                <a:latin typeface="Cambria"/>
              </a:rPr>
              <a:t>Disponibilités (1re phase)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6823" y="868680"/>
            <a:ext cx="8258048" cy="5806440"/>
          </a:xfrm>
          <a:prstGeom prst="rect">
            <a:avLst/>
          </a:prstGeom>
          <a:ln w="12700">
            <a:solidFill>
              <a:srgbClr val="DDE3EA"/>
            </a:solidFill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68680"/>
          </a:xfrm>
          <a:prstGeom prst="rect">
            <a:avLst/>
          </a:prstGeom>
          <a:solidFill>
            <a:srgbClr val="2C5F2D"/>
          </a:solidFill>
          <a:ln>
            <a:solidFill>
              <a:srgbClr val="2C5F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 i="0">
                <a:solidFill>
                  <a:srgbClr val="97BC62"/>
                </a:solidFill>
                <a:latin typeface="Cambria"/>
              </a:rPr>
              <a:t>EN21   </a:t>
            </a:r>
            <a:r>
              <a:rPr sz="2000" b="1" i="0">
                <a:solidFill>
                  <a:srgbClr val="FFFFFF"/>
                </a:solidFill>
                <a:latin typeface="Cambria"/>
              </a:rPr>
              <a:t>Message envoyé  —  Convocation et frais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43000"/>
            <a:ext cx="10908792" cy="5440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33272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 i="0">
                <a:solidFill>
                  <a:srgbClr val="586675"/>
                </a:solidFill>
                <a:latin typeface="Calibri"/>
              </a:rPr>
              <a:t>De : </a:t>
            </a:r>
            <a:r>
              <a:rPr sz="1200" b="0" i="0">
                <a:solidFill>
                  <a:srgbClr val="18222E"/>
                </a:solidFill>
                <a:latin typeface="Calibri"/>
              </a:rPr>
              <a:t>Jean MARTIN &lt;nijac@ligue-normandie-tt.fr&gt;</a:t>
            </a:r>
          </a:p>
          <a:p>
            <a:r>
              <a:rPr sz="1200" b="1" i="0">
                <a:solidFill>
                  <a:srgbClr val="586675"/>
                </a:solidFill>
                <a:latin typeface="Calibri"/>
              </a:rPr>
              <a:t>À : </a:t>
            </a:r>
            <a:r>
              <a:rPr sz="1200" b="0" i="0">
                <a:solidFill>
                  <a:srgbClr val="18222E"/>
                </a:solidFill>
                <a:latin typeface="Calibri"/>
              </a:rPr>
              <a:t>Camille DURAND &lt;camille.durand@example.fr&gt;</a:t>
            </a:r>
          </a:p>
          <a:p>
            <a:r>
              <a:rPr sz="1200" b="1" i="0">
                <a:solidFill>
                  <a:srgbClr val="586675"/>
                </a:solidFill>
                <a:latin typeface="Calibri"/>
              </a:rPr>
              <a:t>Objet : </a:t>
            </a:r>
            <a:r>
              <a:rPr sz="1200" b="0" i="0">
                <a:solidFill>
                  <a:srgbClr val="18222E"/>
                </a:solidFill>
                <a:latin typeface="Calibri"/>
              </a:rPr>
              <a:t>Convocation pour la journée 3 Division : R2 du Championnat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697480"/>
            <a:ext cx="10332720" cy="9525"/>
          </a:xfrm>
          <a:prstGeom prst="rect">
            <a:avLst/>
          </a:prstGeom>
          <a:solidFill>
            <a:srgbClr val="DDE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2834640"/>
            <a:ext cx="1033272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200"/>
              </a:spcAft>
            </a:pPr>
            <a:r>
              <a:rPr sz="950" b="0" i="0">
                <a:solidFill>
                  <a:srgbClr val="18222E"/>
                </a:solidFill>
                <a:latin typeface="Calibri"/>
              </a:rPr>
              <a:t>Convocation</a:t>
            </a:r>
          </a:p>
          <a:p>
            <a:pPr>
              <a:spcAft>
                <a:spcPts val="200"/>
              </a:spcAft>
            </a:pPr>
            <a:r>
              <a:rPr sz="950" b="0" i="0">
                <a:solidFill>
                  <a:srgbClr val="18222E"/>
                </a:solidFill>
                <a:latin typeface="Calibri"/>
              </a:rPr>
              <a:t> </a:t>
            </a:r>
          </a:p>
          <a:p>
            <a:pPr>
              <a:spcAft>
                <a:spcPts val="200"/>
              </a:spcAft>
            </a:pPr>
            <a:r>
              <a:rPr sz="950" b="0" i="0">
                <a:solidFill>
                  <a:srgbClr val="18222E"/>
                </a:solidFill>
                <a:latin typeface="Calibri"/>
              </a:rPr>
              <a:t>Nom du JUGE ARBITRE : Camille DURAND</a:t>
            </a:r>
          </a:p>
          <a:p>
            <a:pPr>
              <a:spcAft>
                <a:spcPts val="200"/>
              </a:spcAft>
            </a:pPr>
            <a:r>
              <a:rPr sz="950" b="0" i="0">
                <a:solidFill>
                  <a:srgbClr val="18222E"/>
                </a:solidFill>
                <a:latin typeface="Calibri"/>
              </a:rPr>
              <a:t> </a:t>
            </a:r>
          </a:p>
          <a:p>
            <a:pPr>
              <a:spcAft>
                <a:spcPts val="200"/>
              </a:spcAft>
            </a:pPr>
            <a:r>
              <a:rPr sz="950" b="0" i="0">
                <a:solidFill>
                  <a:srgbClr val="18222E"/>
                </a:solidFill>
                <a:latin typeface="Calibri"/>
              </a:rPr>
              <a:t>J'ai l'avantage de vous informer que vous êtes désigné(e) pour diriger la rencontre suivante du Championnat de France par Équipes Messieurs.</a:t>
            </a:r>
          </a:p>
          <a:p>
            <a:pPr>
              <a:spcAft>
                <a:spcPts val="200"/>
              </a:spcAft>
            </a:pPr>
            <a:r>
              <a:rPr sz="950" b="0" i="0">
                <a:solidFill>
                  <a:srgbClr val="18222E"/>
                </a:solidFill>
                <a:latin typeface="Calibri"/>
              </a:rPr>
              <a:t> </a:t>
            </a:r>
          </a:p>
          <a:p>
            <a:pPr>
              <a:spcAft>
                <a:spcPts val="200"/>
              </a:spcAft>
            </a:pPr>
            <a:r>
              <a:rPr sz="950" b="0" i="0">
                <a:solidFill>
                  <a:srgbClr val="18222E"/>
                </a:solidFill>
                <a:latin typeface="Calibri"/>
              </a:rPr>
              <a:t>Journée n° 3      Division : R2    Poule : A</a:t>
            </a:r>
          </a:p>
          <a:p>
            <a:pPr>
              <a:spcAft>
                <a:spcPts val="200"/>
              </a:spcAft>
            </a:pPr>
            <a:r>
              <a:rPr sz="950" b="0" i="0">
                <a:solidFill>
                  <a:srgbClr val="18222E"/>
                </a:solidFill>
                <a:latin typeface="Calibri"/>
              </a:rPr>
              <a:t>Opposant : TT ROUEN à TT LE HAVRE</a:t>
            </a:r>
          </a:p>
          <a:p>
            <a:pPr>
              <a:spcAft>
                <a:spcPts val="200"/>
              </a:spcAft>
            </a:pPr>
            <a:r>
              <a:rPr sz="950" b="0" i="0">
                <a:solidFill>
                  <a:srgbClr val="18222E"/>
                </a:solidFill>
                <a:latin typeface="Calibri"/>
              </a:rPr>
              <a:t>le 18/10/2025 à 14h00</a:t>
            </a:r>
          </a:p>
          <a:p>
            <a:pPr>
              <a:spcAft>
                <a:spcPts val="200"/>
              </a:spcAft>
            </a:pPr>
            <a:r>
              <a:rPr sz="950" b="0" i="0">
                <a:solidFill>
                  <a:srgbClr val="18222E"/>
                </a:solidFill>
                <a:latin typeface="Calibri"/>
              </a:rPr>
              <a:t> </a:t>
            </a:r>
          </a:p>
          <a:p>
            <a:pPr>
              <a:spcAft>
                <a:spcPts val="200"/>
              </a:spcAft>
            </a:pPr>
            <a:r>
              <a:rPr sz="950" b="0" i="0">
                <a:solidFill>
                  <a:srgbClr val="18222E"/>
                </a:solidFill>
                <a:latin typeface="Calibri"/>
              </a:rPr>
              <a:t>Adresse : Gymnase Jean Zay 12 rue du Sport 76000 ROUEN</a:t>
            </a:r>
          </a:p>
          <a:p>
            <a:pPr>
              <a:spcAft>
                <a:spcPts val="200"/>
              </a:spcAft>
            </a:pPr>
            <a:r>
              <a:rPr sz="950" b="0" i="0">
                <a:solidFill>
                  <a:srgbClr val="18222E"/>
                </a:solidFill>
                <a:latin typeface="Calibri"/>
              </a:rPr>
              <a:t> </a:t>
            </a:r>
          </a:p>
          <a:p>
            <a:pPr>
              <a:spcAft>
                <a:spcPts val="200"/>
              </a:spcAft>
            </a:pPr>
            <a:r>
              <a:rPr sz="950" b="0" i="0">
                <a:solidFill>
                  <a:srgbClr val="18222E"/>
                </a:solidFill>
                <a:latin typeface="Calibri"/>
              </a:rPr>
              <a:t>Nom, PRÉNOM du CORRESPONDANT : Paul LEROY</a:t>
            </a:r>
          </a:p>
          <a:p>
            <a:pPr>
              <a:spcAft>
                <a:spcPts val="200"/>
              </a:spcAft>
            </a:pPr>
            <a:r>
              <a:rPr sz="950" b="0" i="0">
                <a:solidFill>
                  <a:srgbClr val="18222E"/>
                </a:solidFill>
                <a:latin typeface="Calibri"/>
              </a:rPr>
              <a:t>Tél : 06 12 34 56 78     Courriel : correspondant@ttrouen.fr</a:t>
            </a:r>
          </a:p>
          <a:p>
            <a:pPr>
              <a:spcAft>
                <a:spcPts val="200"/>
              </a:spcAft>
            </a:pPr>
            <a:r>
              <a:rPr sz="950" b="0" i="0">
                <a:solidFill>
                  <a:srgbClr val="18222E"/>
                </a:solidFill>
                <a:latin typeface="Calibri"/>
              </a:rPr>
              <a:t> </a:t>
            </a:r>
          </a:p>
          <a:p>
            <a:pPr>
              <a:spcAft>
                <a:spcPts val="200"/>
              </a:spcAft>
            </a:pPr>
            <a:r>
              <a:rPr sz="950" b="0" i="0">
                <a:solidFill>
                  <a:srgbClr val="18222E"/>
                </a:solidFill>
                <a:latin typeface="Calibri"/>
              </a:rPr>
              <a:t>Veuillez agréer mes meilleurs sentiments.</a:t>
            </a:r>
          </a:p>
          <a:p>
            <a:pPr>
              <a:spcAft>
                <a:spcPts val="200"/>
              </a:spcAft>
            </a:pPr>
            <a:r>
              <a:rPr sz="950" b="0" i="0">
                <a:solidFill>
                  <a:srgbClr val="18222E"/>
                </a:solidFill>
                <a:latin typeface="Calibri"/>
              </a:rPr>
              <a:t>Jean MARTIN</a:t>
            </a:r>
          </a:p>
          <a:p>
            <a:pPr>
              <a:spcAft>
                <a:spcPts val="200"/>
              </a:spcAft>
            </a:pPr>
            <a:r>
              <a:rPr sz="950" b="0" i="0">
                <a:solidFill>
                  <a:srgbClr val="18222E"/>
                </a:solidFill>
                <a:latin typeface="Calibri"/>
              </a:rPr>
              <a:t> </a:t>
            </a:r>
          </a:p>
          <a:p>
            <a:pPr>
              <a:spcAft>
                <a:spcPts val="200"/>
              </a:spcAft>
            </a:pPr>
            <a:r>
              <a:rPr sz="950" b="0" i="0">
                <a:solidFill>
                  <a:srgbClr val="18222E"/>
                </a:solidFill>
                <a:latin typeface="Calibri"/>
              </a:rPr>
              <a:t>Ci-joint le lien vers la convocation pour la saisie de vos frais d'arbitrage de cette rencontre.</a:t>
            </a:r>
          </a:p>
          <a:p>
            <a:pPr>
              <a:spcAft>
                <a:spcPts val="200"/>
              </a:spcAft>
            </a:pPr>
            <a:r>
              <a:rPr sz="950" b="0" i="0">
                <a:solidFill>
                  <a:srgbClr val="18222E"/>
                </a:solidFill>
                <a:latin typeface="Calibri"/>
              </a:rPr>
              <a:t>https://www.ligue-normandie-tt.fr/nijac/convocation-ja?ja=A1b2C3d4</a:t>
            </a:r>
          </a:p>
          <a:p>
            <a:pPr>
              <a:spcAft>
                <a:spcPts val="200"/>
              </a:spcAft>
            </a:pPr>
            <a:r>
              <a:rPr sz="950" b="0" i="0">
                <a:solidFill>
                  <a:srgbClr val="18222E"/>
                </a:solidFill>
                <a:latin typeface="Calibri"/>
              </a:rPr>
              <a:t> </a:t>
            </a:r>
          </a:p>
          <a:p>
            <a:pPr>
              <a:spcAft>
                <a:spcPts val="200"/>
              </a:spcAft>
            </a:pPr>
            <a:r>
              <a:rPr sz="950" b="0" i="0">
                <a:solidFill>
                  <a:srgbClr val="18222E"/>
                </a:solidFill>
                <a:latin typeface="Calibri"/>
              </a:rPr>
              <a:t>IMPORTANT : merci de m'accuser réception du présent envoi et de retourner la convocation complétée de vos kms dans les 5 jours qui suivent la rencontre.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565392"/>
            <a:ext cx="10908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 i="1">
                <a:solidFill>
                  <a:srgbClr val="586675"/>
                </a:solidFill>
                <a:latin typeface="Calibri"/>
              </a:rPr>
              <a:t>Modèle : messagerie ID 3 - type « Convocation »  —  variables {…} remplacées à l'envoi (données fictives).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457200"/>
            <a:ext cx="868680" cy="384048"/>
          </a:xfrm>
          <a:prstGeom prst="roundRect">
            <a:avLst>
              <a:gd name="adj" fmla="val 19048"/>
            </a:avLst>
          </a:prstGeom>
          <a:solidFill>
            <a:srgbClr val="2C5F2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943600" y="457200"/>
            <a:ext cx="868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EN21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949440" y="384048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82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Convocation et frais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943600" y="1051560"/>
            <a:ext cx="5669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Où : </a:t>
            </a:r>
            <a:r>
              <a:rPr lang="en-US" sz="1100" i="1" dirty="0">
                <a:solidFill>
                  <a:srgbClr val="58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Lien reçu quand le nominateur envoie les convocations (EN14).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943600" y="182880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VOUS DEVEZ FAIRE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6080760" y="2176272"/>
            <a:ext cx="5532120" cy="1609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8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Vérifier la convocation : journée, division, opposants, date, salle, correspondant du club recevant.</a:t>
            </a:r>
            <a:endParaRPr lang="en-US" sz="1150" dirty="0"/>
          </a:p>
          <a:p>
            <a:pPr marL="152400" indent="-1524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8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Après la rencontre : saisir les péages, le kilométrage réel, et remplir le rapport si un problème est constaté.</a:t>
            </a:r>
            <a:endParaRPr lang="en-US" sz="1150" dirty="0"/>
          </a:p>
          <a:p>
            <a:pPr marL="152400" indent="-1524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8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Cocher « Défiscalisation des frais kilométriques » si vous en faites don à la ligue (reçu fiscal).</a:t>
            </a:r>
            <a:endParaRPr lang="en-US" sz="1150" dirty="0"/>
          </a:p>
          <a:p>
            <a:pPr marL="152400" indent="-1524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8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Cliquer « Enregistrer les frais ». « Imprimer / PDF » pour conserver la convocation.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5943600" y="4105656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SAVOIR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080760" y="4453128"/>
            <a:ext cx="5532120" cy="1856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8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= indemnité forfaitaire + péages + kilomètres × 0,35 € (tarif réglable dans EA91).</a:t>
            </a:r>
            <a:endParaRPr lang="en-US" sz="1150" dirty="0"/>
          </a:p>
          <a:p>
            <a:pPr marL="152400" indent="-1524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8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Coordonnées du correspondant du club recevant affichées sur la convocation ; « – » signale une info absente côté club.</a:t>
            </a:r>
            <a:endParaRPr lang="en-US" sz="1150" dirty="0"/>
          </a:p>
          <a:p>
            <a:pPr marL="152400" indent="-1524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8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Indemnités payées en fin de phase par la ligue : transmettez votre RIB.</a:t>
            </a:r>
            <a:endParaRPr lang="en-US" sz="1150" dirty="0"/>
          </a:p>
          <a:p>
            <a:pPr marL="152400" indent="-1524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8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lien de convocation n'expire pas tant que la nomination existe.</a:t>
            </a:r>
            <a:endParaRPr lang="en-US" sz="1150" dirty="0"/>
          </a:p>
        </p:txBody>
      </p:sp>
      <p:pic>
        <p:nvPicPr>
          <p:cNvPr id="10" name="Image 0" descr="C:/Users/Moi/AppData/Local/Temp/claude/F--wamp64-www-NIJAC/0c2a83f6-d373-4c94-82f4-67bcd12b450a/scratchpad/img/EN2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66557"/>
            <a:ext cx="4937760" cy="474784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56032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1" i="0">
                <a:solidFill>
                  <a:srgbClr val="2C5F2D"/>
                </a:solidFill>
                <a:latin typeface="Cambria"/>
              </a:rPr>
              <a:t>EN21   </a:t>
            </a:r>
            <a:r>
              <a:rPr sz="1400" b="1" i="0">
                <a:solidFill>
                  <a:srgbClr val="18222E"/>
                </a:solidFill>
                <a:latin typeface="Cambria"/>
              </a:rPr>
              <a:t>Convocation et frais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2152" y="868680"/>
            <a:ext cx="6047390" cy="5806440"/>
          </a:xfrm>
          <a:prstGeom prst="rect">
            <a:avLst/>
          </a:prstGeom>
          <a:ln w="12700">
            <a:solidFill>
              <a:srgbClr val="DDE3EA"/>
            </a:solidFill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68680"/>
          </a:xfrm>
          <a:prstGeom prst="rect">
            <a:avLst/>
          </a:prstGeom>
          <a:solidFill>
            <a:srgbClr val="2C5F2D"/>
          </a:solidFill>
          <a:ln>
            <a:solidFill>
              <a:srgbClr val="2C5F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 i="0">
                <a:solidFill>
                  <a:srgbClr val="97BC62"/>
                </a:solidFill>
                <a:latin typeface="Cambria"/>
              </a:rPr>
              <a:t>EN25   </a:t>
            </a:r>
            <a:r>
              <a:rPr sz="2000" b="1" i="0">
                <a:solidFill>
                  <a:srgbClr val="FFFFFF"/>
                </a:solidFill>
                <a:latin typeface="Cambria"/>
              </a:rPr>
              <a:t>Message envoyé  —  Juge-arbitre du club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43000"/>
            <a:ext cx="10908792" cy="5440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33272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 i="0">
                <a:solidFill>
                  <a:srgbClr val="586675"/>
                </a:solidFill>
                <a:latin typeface="Calibri"/>
              </a:rPr>
              <a:t>De : </a:t>
            </a:r>
            <a:r>
              <a:rPr sz="1200" b="0" i="0">
                <a:solidFill>
                  <a:srgbClr val="18222E"/>
                </a:solidFill>
                <a:latin typeface="Calibri"/>
              </a:rPr>
              <a:t>Jean MARTIN &lt;nijac@ligue-normandie-tt.fr&gt;</a:t>
            </a:r>
          </a:p>
          <a:p>
            <a:r>
              <a:rPr sz="1200" b="1" i="0">
                <a:solidFill>
                  <a:srgbClr val="586675"/>
                </a:solidFill>
                <a:latin typeface="Calibri"/>
              </a:rPr>
              <a:t>À : </a:t>
            </a:r>
            <a:r>
              <a:rPr sz="1200" b="0" i="0">
                <a:solidFill>
                  <a:srgbClr val="18222E"/>
                </a:solidFill>
                <a:latin typeface="Calibri"/>
              </a:rPr>
              <a:t>Paul LEROY (correspondant TT ROUEN) &lt;correspondant@ttrouen.fr&gt;</a:t>
            </a:r>
          </a:p>
          <a:p>
            <a:r>
              <a:rPr sz="1200" b="1" i="0">
                <a:solidFill>
                  <a:srgbClr val="586675"/>
                </a:solidFill>
                <a:latin typeface="Calibri"/>
              </a:rPr>
              <a:t>Objet : </a:t>
            </a:r>
            <a:r>
              <a:rPr sz="1200" b="0" i="0">
                <a:solidFill>
                  <a:srgbClr val="18222E"/>
                </a:solidFill>
                <a:latin typeface="Calibri"/>
              </a:rPr>
              <a:t>Championnat Régional - Juge-arbitre pour TT ROUEN / TT LE HAVRE du 18/10/2025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697480"/>
            <a:ext cx="10332720" cy="9525"/>
          </a:xfrm>
          <a:prstGeom prst="rect">
            <a:avLst/>
          </a:prstGeom>
          <a:solidFill>
            <a:srgbClr val="DDE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2834640"/>
            <a:ext cx="1033272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200"/>
              </a:spcAft>
            </a:pPr>
            <a:r>
              <a:rPr sz="1100" b="0" i="0">
                <a:solidFill>
                  <a:srgbClr val="18222E"/>
                </a:solidFill>
                <a:latin typeface="Calibri"/>
              </a:rPr>
              <a:t>Bonjour Paul LEROY,</a:t>
            </a:r>
          </a:p>
          <a:p>
            <a:pPr>
              <a:spcAft>
                <a:spcPts val="200"/>
              </a:spcAft>
            </a:pPr>
            <a:r>
              <a:rPr sz="1100" b="0" i="0">
                <a:solidFill>
                  <a:srgbClr val="18222E"/>
                </a:solidFill>
                <a:latin typeface="Calibri"/>
              </a:rPr>
              <a:t> </a:t>
            </a:r>
          </a:p>
          <a:p>
            <a:pPr>
              <a:spcAft>
                <a:spcPts val="200"/>
              </a:spcAft>
            </a:pPr>
            <a:r>
              <a:rPr sz="1100" b="0" i="0">
                <a:solidFill>
                  <a:srgbClr val="18222E"/>
                </a:solidFill>
                <a:latin typeface="Calibri"/>
              </a:rPr>
              <a:t>Votre équipe TT ROUEN reçoit TT LE HAVRE le 18/10/2025 à 14h00 (Division R2, journée 3, poule A) à la salle : Gymnase Jean Zay 76000 ROUEN.</a:t>
            </a:r>
          </a:p>
          <a:p>
            <a:pPr>
              <a:spcAft>
                <a:spcPts val="200"/>
              </a:spcAft>
            </a:pPr>
            <a:r>
              <a:rPr sz="1100" b="0" i="0">
                <a:solidFill>
                  <a:srgbClr val="18222E"/>
                </a:solidFill>
                <a:latin typeface="Calibri"/>
              </a:rPr>
              <a:t> </a:t>
            </a:r>
          </a:p>
          <a:p>
            <a:pPr>
              <a:spcAft>
                <a:spcPts val="200"/>
              </a:spcAft>
            </a:pPr>
            <a:r>
              <a:rPr sz="1100" b="0" i="0">
                <a:solidFill>
                  <a:srgbClr val="18222E"/>
                </a:solidFill>
                <a:latin typeface="Calibri"/>
              </a:rPr>
              <a:t>Cette rencontre est en arbitrage club. À l'issue de la rencontre merci de nous indiquer le nom du juge-arbitre qui la dirigera, en suivant ce lien :</a:t>
            </a:r>
          </a:p>
          <a:p>
            <a:pPr>
              <a:spcAft>
                <a:spcPts val="200"/>
              </a:spcAft>
            </a:pPr>
            <a:r>
              <a:rPr sz="1100" b="0" i="0">
                <a:solidFill>
                  <a:srgbClr val="18222E"/>
                </a:solidFill>
                <a:latin typeface="Calibri"/>
              </a:rPr>
              <a:t>https://www.ligue-normandie-tt.fr/nijac/info-rencontre?renc=R4t6Y8u0</a:t>
            </a:r>
          </a:p>
          <a:p>
            <a:pPr>
              <a:spcAft>
                <a:spcPts val="200"/>
              </a:spcAft>
            </a:pPr>
            <a:r>
              <a:rPr sz="1100" b="0" i="0">
                <a:solidFill>
                  <a:srgbClr val="18222E"/>
                </a:solidFill>
                <a:latin typeface="Calibri"/>
              </a:rPr>
              <a:t> </a:t>
            </a:r>
          </a:p>
          <a:p>
            <a:pPr>
              <a:spcAft>
                <a:spcPts val="200"/>
              </a:spcAft>
            </a:pPr>
            <a:r>
              <a:rPr sz="1100" b="0" i="0">
                <a:solidFill>
                  <a:srgbClr val="18222E"/>
                </a:solidFill>
                <a:latin typeface="Calibri"/>
              </a:rPr>
              <a:t>À renseigner dans les 5 jours qui suivent la rencontre au maximum.</a:t>
            </a:r>
          </a:p>
          <a:p>
            <a:pPr>
              <a:spcAft>
                <a:spcPts val="200"/>
              </a:spcAft>
            </a:pPr>
            <a:r>
              <a:rPr sz="1100" b="0" i="0">
                <a:solidFill>
                  <a:srgbClr val="18222E"/>
                </a:solidFill>
                <a:latin typeface="Calibri"/>
              </a:rPr>
              <a:t> </a:t>
            </a:r>
          </a:p>
          <a:p>
            <a:pPr>
              <a:spcAft>
                <a:spcPts val="200"/>
              </a:spcAft>
            </a:pPr>
            <a:r>
              <a:rPr sz="1100" b="0" i="0">
                <a:solidFill>
                  <a:srgbClr val="18222E"/>
                </a:solidFill>
                <a:latin typeface="Calibri"/>
              </a:rPr>
              <a:t>Sportivement,</a:t>
            </a:r>
          </a:p>
          <a:p>
            <a:pPr>
              <a:spcAft>
                <a:spcPts val="200"/>
              </a:spcAft>
            </a:pPr>
            <a:r>
              <a:rPr sz="1100" b="0" i="0">
                <a:solidFill>
                  <a:srgbClr val="18222E"/>
                </a:solidFill>
                <a:latin typeface="Calibri"/>
              </a:rPr>
              <a:t>Jean MARTIN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565392"/>
            <a:ext cx="10908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 i="1">
                <a:solidFill>
                  <a:srgbClr val="586675"/>
                </a:solidFill>
                <a:latin typeface="Calibri"/>
              </a:rPr>
              <a:t>Modèle : messagerie ID 7 - type « JA Club »  —  variables {…} remplacées à l'envoi (données fictives).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68680" cy="384048"/>
          </a:xfrm>
          <a:prstGeom prst="roundRect">
            <a:avLst>
              <a:gd name="adj" fmla="val 19048"/>
            </a:avLst>
          </a:prstGeom>
          <a:solidFill>
            <a:srgbClr val="2C5F2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868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EN25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554480" y="384048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82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Juge-arbitre du club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51560"/>
            <a:ext cx="5669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Où : </a:t>
            </a:r>
            <a:r>
              <a:rPr lang="en-US" sz="1100" i="1" dirty="0">
                <a:solidFill>
                  <a:srgbClr val="58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Lien ?renc=… envoyé au correspondant du club recevant depuis EN14 (rencontres en arbitrage club).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82880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VOUS DEVEZ FAIRE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176272"/>
            <a:ext cx="55321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8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correspondant choisit dans la liste déroulante le juge-arbitre du club qui dirigera la rencontre.</a:t>
            </a:r>
            <a:endParaRPr lang="en-US" sz="1150" dirty="0"/>
          </a:p>
          <a:p>
            <a:pPr marL="152400" indent="-1524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8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Cliquer « Envoyer ».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209544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SAVOIR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3557016"/>
            <a:ext cx="5532120" cy="2752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8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Seuls les JA actifs rattachés au club recevant apparaissent dans la liste.</a:t>
            </a:r>
            <a:endParaRPr lang="en-US" sz="1150" dirty="0"/>
          </a:p>
          <a:p>
            <a:pPr marL="152400" indent="-1524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8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Délai indicatif de 5 jours après la rencontre ; saisie impossible si la convocation est déjà partie.</a:t>
            </a:r>
            <a:endParaRPr lang="en-US" sz="1150" dirty="0"/>
          </a:p>
        </p:txBody>
      </p:sp>
      <p:pic>
        <p:nvPicPr>
          <p:cNvPr id="10" name="Image 0" descr="C:/Users/Moi/AppData/Local/Temp/claude/F--wamp64-www-NIJAC/0c2a83f6-d373-4c94-82f4-67bcd12b450a/scratchpad/img/EN2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2101832"/>
            <a:ext cx="4937760" cy="347729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56032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1" i="0">
                <a:solidFill>
                  <a:srgbClr val="2C5F2D"/>
                </a:solidFill>
                <a:latin typeface="Cambria"/>
              </a:rPr>
              <a:t>EN25   </a:t>
            </a:r>
            <a:r>
              <a:rPr sz="1400" b="1" i="0">
                <a:solidFill>
                  <a:srgbClr val="18222E"/>
                </a:solidFill>
                <a:latin typeface="Cambria"/>
              </a:rPr>
              <a:t>Juge-arbitre du club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6823" y="868680"/>
            <a:ext cx="8258048" cy="5806440"/>
          </a:xfrm>
          <a:prstGeom prst="rect">
            <a:avLst/>
          </a:prstGeom>
          <a:ln w="12700">
            <a:solidFill>
              <a:srgbClr val="DDE3EA"/>
            </a:solidFill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68680"/>
          </a:xfrm>
          <a:prstGeom prst="rect">
            <a:avLst/>
          </a:prstGeom>
          <a:solidFill>
            <a:srgbClr val="2C5F2D"/>
          </a:solidFill>
          <a:ln>
            <a:solidFill>
              <a:srgbClr val="2C5F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 i="0">
                <a:solidFill>
                  <a:srgbClr val="97BC62"/>
                </a:solidFill>
                <a:latin typeface="Cambria"/>
              </a:rPr>
              <a:t>EN18   </a:t>
            </a:r>
            <a:r>
              <a:rPr sz="2000" b="1" i="0">
                <a:solidFill>
                  <a:srgbClr val="FFFFFF"/>
                </a:solidFill>
                <a:latin typeface="Cambria"/>
              </a:rPr>
              <a:t>Message envoyé  —  Désidératas du club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43000"/>
            <a:ext cx="10908792" cy="5440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33272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 i="0">
                <a:solidFill>
                  <a:srgbClr val="586675"/>
                </a:solidFill>
                <a:latin typeface="Calibri"/>
              </a:rPr>
              <a:t>De : </a:t>
            </a:r>
            <a:r>
              <a:rPr sz="1200" b="0" i="0">
                <a:solidFill>
                  <a:srgbClr val="18222E"/>
                </a:solidFill>
                <a:latin typeface="Calibri"/>
              </a:rPr>
              <a:t>Laurent CARDINE &lt;csr@ligue-normandie-tt.fr&gt;</a:t>
            </a:r>
          </a:p>
          <a:p>
            <a:r>
              <a:rPr sz="1200" b="1" i="0">
                <a:solidFill>
                  <a:srgbClr val="586675"/>
                </a:solidFill>
                <a:latin typeface="Calibri"/>
              </a:rPr>
              <a:t>À : </a:t>
            </a:r>
            <a:r>
              <a:rPr sz="1200" b="0" i="0">
                <a:solidFill>
                  <a:srgbClr val="18222E"/>
                </a:solidFill>
                <a:latin typeface="Calibri"/>
              </a:rPr>
              <a:t>Paul LEROY (correspondant TT ROUEN) &lt;correspondant@ttrouen.fr&gt;</a:t>
            </a:r>
          </a:p>
          <a:p>
            <a:r>
              <a:rPr sz="1200" b="1" i="0">
                <a:solidFill>
                  <a:srgbClr val="586675"/>
                </a:solidFill>
                <a:latin typeface="Calibri"/>
              </a:rPr>
              <a:t>Objet : </a:t>
            </a:r>
            <a:r>
              <a:rPr sz="1200" b="0" i="0">
                <a:solidFill>
                  <a:srgbClr val="18222E"/>
                </a:solidFill>
                <a:latin typeface="Calibri"/>
              </a:rPr>
              <a:t>Désidératas 2025 /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697480"/>
            <a:ext cx="10332720" cy="9525"/>
          </a:xfrm>
          <a:prstGeom prst="rect">
            <a:avLst/>
          </a:prstGeom>
          <a:solidFill>
            <a:srgbClr val="DDE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2834640"/>
            <a:ext cx="1033272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200"/>
              </a:spcAft>
            </a:pPr>
            <a:r>
              <a:rPr sz="1100" b="0" i="0">
                <a:solidFill>
                  <a:srgbClr val="18222E"/>
                </a:solidFill>
                <a:latin typeface="Calibri"/>
              </a:rPr>
              <a:t>Bonjour,</a:t>
            </a:r>
          </a:p>
          <a:p>
            <a:pPr>
              <a:spcAft>
                <a:spcPts val="200"/>
              </a:spcAft>
            </a:pPr>
            <a:r>
              <a:rPr sz="1100" b="0" i="0">
                <a:solidFill>
                  <a:srgbClr val="18222E"/>
                </a:solidFill>
                <a:latin typeface="Calibri"/>
              </a:rPr>
              <a:t> </a:t>
            </a:r>
          </a:p>
          <a:p>
            <a:pPr>
              <a:spcAft>
                <a:spcPts val="200"/>
              </a:spcAft>
            </a:pPr>
            <a:r>
              <a:rPr sz="1100" b="0" i="0">
                <a:solidFill>
                  <a:srgbClr val="18222E"/>
                </a:solidFill>
                <a:latin typeface="Calibri"/>
              </a:rPr>
              <a:t>Pour procéder aux réengagements des équipes en championnat Régional, vous devez passer par : https://monclub.fftt.com</a:t>
            </a:r>
          </a:p>
          <a:p>
            <a:pPr>
              <a:spcAft>
                <a:spcPts val="200"/>
              </a:spcAft>
            </a:pPr>
            <a:r>
              <a:rPr sz="1100" b="0" i="0">
                <a:solidFill>
                  <a:srgbClr val="18222E"/>
                </a:solidFill>
                <a:latin typeface="Calibri"/>
              </a:rPr>
              <a:t> </a:t>
            </a:r>
          </a:p>
          <a:p>
            <a:pPr>
              <a:spcAft>
                <a:spcPts val="200"/>
              </a:spcAft>
            </a:pPr>
            <a:r>
              <a:rPr sz="1100" b="0" i="0">
                <a:solidFill>
                  <a:srgbClr val="18222E"/>
                </a:solidFill>
                <a:latin typeface="Calibri"/>
              </a:rPr>
              <a:t>Merci de renseigner le récapitulatif de vos équipes engagées et vos souhaits de juge-arbitrage pour la prochaine saison des équipes R3 et R4, via le formulaire en ligne en suivant ce lien :</a:t>
            </a:r>
          </a:p>
          <a:p>
            <a:pPr>
              <a:spcAft>
                <a:spcPts val="200"/>
              </a:spcAft>
            </a:pPr>
            <a:r>
              <a:rPr sz="1100" b="0" i="0">
                <a:solidFill>
                  <a:srgbClr val="18222E"/>
                </a:solidFill>
                <a:latin typeface="Calibri"/>
              </a:rPr>
              <a:t>https://www.ligue-normandie-tt.fr/nijac/desiderata-club?club=K7m9P2q5</a:t>
            </a:r>
          </a:p>
          <a:p>
            <a:pPr>
              <a:spcAft>
                <a:spcPts val="200"/>
              </a:spcAft>
            </a:pPr>
            <a:r>
              <a:rPr sz="1100" b="0" i="0">
                <a:solidFill>
                  <a:srgbClr val="18222E"/>
                </a:solidFill>
                <a:latin typeface="Calibri"/>
              </a:rPr>
              <a:t> </a:t>
            </a:r>
          </a:p>
          <a:p>
            <a:pPr>
              <a:spcAft>
                <a:spcPts val="200"/>
              </a:spcAft>
            </a:pPr>
            <a:r>
              <a:rPr sz="1100" b="0" i="0">
                <a:solidFill>
                  <a:srgbClr val="18222E"/>
                </a:solidFill>
                <a:latin typeface="Calibri"/>
              </a:rPr>
              <a:t>Merci de valider dans les meilleurs délais ce questionnaire qui officialise vos réengagements.</a:t>
            </a:r>
          </a:p>
          <a:p>
            <a:pPr>
              <a:spcAft>
                <a:spcPts val="200"/>
              </a:spcAft>
            </a:pPr>
            <a:r>
              <a:rPr sz="1100" b="0" i="0">
                <a:solidFill>
                  <a:srgbClr val="18222E"/>
                </a:solidFill>
                <a:latin typeface="Calibri"/>
              </a:rPr>
              <a:t> </a:t>
            </a:r>
          </a:p>
          <a:p>
            <a:pPr>
              <a:spcAft>
                <a:spcPts val="200"/>
              </a:spcAft>
            </a:pPr>
            <a:r>
              <a:rPr sz="1100" b="0" i="0">
                <a:solidFill>
                  <a:srgbClr val="18222E"/>
                </a:solidFill>
                <a:latin typeface="Calibri"/>
              </a:rPr>
              <a:t>Sportivement.</a:t>
            </a:r>
          </a:p>
          <a:p>
            <a:pPr>
              <a:spcAft>
                <a:spcPts val="200"/>
              </a:spcAft>
            </a:pPr>
            <a:r>
              <a:rPr sz="1100" b="0" i="0">
                <a:solidFill>
                  <a:srgbClr val="18222E"/>
                </a:solidFill>
                <a:latin typeface="Calibri"/>
              </a:rPr>
              <a:t> </a:t>
            </a:r>
          </a:p>
          <a:p>
            <a:pPr>
              <a:spcAft>
                <a:spcPts val="200"/>
              </a:spcAft>
            </a:pPr>
            <a:r>
              <a:rPr sz="1100" b="0" i="0">
                <a:solidFill>
                  <a:srgbClr val="18222E"/>
                </a:solidFill>
                <a:latin typeface="Calibri"/>
              </a:rPr>
              <a:t>Laurent CARDINE</a:t>
            </a:r>
          </a:p>
          <a:p>
            <a:pPr>
              <a:spcAft>
                <a:spcPts val="200"/>
              </a:spcAft>
            </a:pPr>
            <a:r>
              <a:rPr sz="1100" b="0" i="0">
                <a:solidFill>
                  <a:srgbClr val="18222E"/>
                </a:solidFill>
                <a:latin typeface="Calibri"/>
              </a:rPr>
              <a:t>Responsable de la commission sportive Régionale</a:t>
            </a:r>
          </a:p>
          <a:p>
            <a:pPr>
              <a:spcAft>
                <a:spcPts val="200"/>
              </a:spcAft>
            </a:pPr>
            <a:r>
              <a:rPr sz="1100" b="0" i="0">
                <a:solidFill>
                  <a:srgbClr val="18222E"/>
                </a:solidFill>
                <a:latin typeface="Calibri"/>
              </a:rPr>
              <a:t>Le Secrétariat LNTT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565392"/>
            <a:ext cx="10908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 i="1">
                <a:solidFill>
                  <a:srgbClr val="586675"/>
                </a:solidFill>
                <a:latin typeface="Calibri"/>
              </a:rPr>
              <a:t>Modèle : messagerie ID 6 - type « Réengagements » (corps HTML)  —  variables {…} remplacées à l'envoi (données fictives).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457200"/>
            <a:ext cx="868680" cy="384048"/>
          </a:xfrm>
          <a:prstGeom prst="roundRect">
            <a:avLst>
              <a:gd name="adj" fmla="val 19048"/>
            </a:avLst>
          </a:prstGeom>
          <a:solidFill>
            <a:srgbClr val="2C5F2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943600" y="457200"/>
            <a:ext cx="868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EN18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949440" y="384048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82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Désidératas du club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943600" y="1051560"/>
            <a:ext cx="5669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Où : </a:t>
            </a:r>
            <a:r>
              <a:rPr lang="en-US" sz="1100" i="1" dirty="0">
                <a:solidFill>
                  <a:srgbClr val="58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Lien ?club=… envoyé au correspondant du club depuis EN12. Rempli par le club, pas par le JA — présenté ici pour comprendre la chaîne.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943600" y="182880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VOUS DEVEZ FAIRE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6080760" y="2176272"/>
            <a:ext cx="5532120" cy="1609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8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Renseigner le correspondant et la salle : nom, adresse, code postal, ville, nombre d'aires de jeu.</a:t>
            </a:r>
            <a:endParaRPr lang="en-US" sz="1150" dirty="0"/>
          </a:p>
          <a:p>
            <a:pPr marL="152400" indent="-1524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8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chaque équipe (Pré-Nationale à R4) : réengagement Oui / Non, jour de rencontre souhaité.</a:t>
            </a:r>
            <a:endParaRPr lang="en-US" sz="1150" dirty="0"/>
          </a:p>
          <a:p>
            <a:pPr marL="152400" indent="-1524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8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Équipes R3M / R4M : souhait d'arbitrage — CRA (désignation par la commission) ou Club.</a:t>
            </a:r>
            <a:endParaRPr lang="en-US" sz="1150" dirty="0"/>
          </a:p>
          <a:p>
            <a:pPr marL="152400" indent="-1524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8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« Note » pour signaler une nouvelle équipe ou une correction. Puis « Enregistrer mes désidératas ».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5943600" y="4105656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SAVOIR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080760" y="4453128"/>
            <a:ext cx="5532120" cy="1856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8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souhait « Club » bascule les rencontres à domicile de l'équipe en arbitrage club : elles suivront ensuite le circuit EN25.</a:t>
            </a:r>
            <a:endParaRPr lang="en-US" sz="1150" dirty="0"/>
          </a:p>
        </p:txBody>
      </p:sp>
      <p:pic>
        <p:nvPicPr>
          <p:cNvPr id="10" name="Image 0" descr="C:/Users/Moi/AppData/Local/Temp/claude/F--wamp64-www-NIJAC/0c2a83f6-d373-4c94-82f4-67bcd12b450a/scratchpad/img/EN1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71600"/>
            <a:ext cx="4937760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56032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1" i="0">
                <a:solidFill>
                  <a:srgbClr val="2C5F2D"/>
                </a:solidFill>
                <a:latin typeface="Cambria"/>
              </a:rPr>
              <a:t>EN18   </a:t>
            </a:r>
            <a:r>
              <a:rPr sz="1400" b="1" i="0">
                <a:solidFill>
                  <a:srgbClr val="18222E"/>
                </a:solidFill>
                <a:latin typeface="Cambria"/>
              </a:rPr>
              <a:t>Désidératas du club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4893" y="868680"/>
            <a:ext cx="5801907" cy="5806440"/>
          </a:xfrm>
          <a:prstGeom prst="rect">
            <a:avLst/>
          </a:prstGeom>
          <a:ln w="12700">
            <a:solidFill>
              <a:srgbClr val="DDE3EA"/>
            </a:solidFill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4297680" y="-1600200"/>
            <a:ext cx="10058400" cy="10058400"/>
          </a:xfrm>
          <a:prstGeom prst="ellipse">
            <a:avLst/>
          </a:prstGeom>
          <a:solidFill>
            <a:srgbClr val="F4B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 rot="1320000">
            <a:off x="274320" y="-822960"/>
            <a:ext cx="640080" cy="2834640"/>
          </a:xfrm>
          <a:prstGeom prst="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 rot="20460000">
            <a:off x="3108960" y="5989320"/>
            <a:ext cx="6583680" cy="731520"/>
          </a:xfrm>
          <a:prstGeom prst="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548640" y="1508760"/>
            <a:ext cx="5120640" cy="5120640"/>
          </a:xfrm>
          <a:prstGeom prst="ellipse">
            <a:avLst/>
          </a:prstGeom>
          <a:noFill/>
          <a:ln w="76200">
            <a:solidFill>
              <a:srgbClr val="F4B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merc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960120"/>
            <a:ext cx="4572000" cy="4572000"/>
          </a:xfrm>
          <a:prstGeom prst="ellipse">
            <a:avLst/>
          </a:prstGeom>
          <a:ln w="76200">
            <a:solidFill>
              <a:srgbClr val="FFFFFF"/>
            </a:solidFill>
          </a:ln>
        </p:spPr>
      </p:pic>
      <p:sp>
        <p:nvSpPr>
          <p:cNvPr id="7" name="Oval 6"/>
          <p:cNvSpPr/>
          <p:nvPr/>
        </p:nvSpPr>
        <p:spPr>
          <a:xfrm>
            <a:off x="4160520" y="4526280"/>
            <a:ext cx="1234440" cy="1234440"/>
          </a:xfrm>
          <a:prstGeom prst="ellipse">
            <a:avLst/>
          </a:prstGeom>
          <a:solidFill>
            <a:srgbClr val="1D4E89"/>
          </a:solidFill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60520" y="4645152"/>
            <a:ext cx="12344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JA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20840" y="502920"/>
            <a:ext cx="493776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6000" b="1" i="0">
                <a:solidFill>
                  <a:srgbClr val="111111"/>
                </a:solidFill>
                <a:latin typeface="Calibri"/>
              </a:rPr>
              <a:t>Merci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0" y="1828800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0" i="0">
                <a:solidFill>
                  <a:srgbClr val="1D4E89"/>
                </a:solidFill>
                <a:latin typeface="Calibri"/>
              </a:rPr>
              <a:t>En attente de vos questions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66560" y="2542032"/>
            <a:ext cx="1371600" cy="50292"/>
          </a:xfrm>
          <a:prstGeom prst="rect">
            <a:avLst/>
          </a:prstGeom>
          <a:solidFill>
            <a:srgbClr val="F4B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321040" y="2542032"/>
            <a:ext cx="2194560" cy="50292"/>
          </a:xfrm>
          <a:prstGeom prst="rect">
            <a:avLst/>
          </a:prstGeom>
          <a:solidFill>
            <a:srgbClr val="F4B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720840" y="3017520"/>
            <a:ext cx="6858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 i="0">
                <a:solidFill>
                  <a:srgbClr val="F4B414"/>
                </a:solidFill>
                <a:latin typeface="Segoe UI Emoji"/>
              </a:rPr>
              <a:t>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43800" y="2999232"/>
            <a:ext cx="429768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 i="0">
                <a:solidFill>
                  <a:srgbClr val="111111"/>
                </a:solidFill>
                <a:latin typeface="Calibri"/>
              </a:rPr>
              <a:t>Adresse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43800" y="3383279"/>
            <a:ext cx="42976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0" i="0">
                <a:solidFill>
                  <a:srgbClr val="555555"/>
                </a:solidFill>
                <a:latin typeface="Calibri"/>
              </a:rPr>
              <a:t>Ligue Normandie de Tennis de Table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20840" y="4069079"/>
            <a:ext cx="6858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 i="0">
                <a:solidFill>
                  <a:srgbClr val="1D4E89"/>
                </a:solidFill>
                <a:latin typeface="Segoe UI Emoji"/>
              </a:rPr>
              <a:t>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43800" y="4050791"/>
            <a:ext cx="429768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 i="0" dirty="0">
                <a:solidFill>
                  <a:srgbClr val="111111"/>
                </a:solidFill>
                <a:latin typeface="Calibri"/>
              </a:rPr>
              <a:t>Site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43800" y="4434840"/>
            <a:ext cx="42976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0" i="0">
                <a:solidFill>
                  <a:srgbClr val="555555"/>
                </a:solidFill>
                <a:latin typeface="Calibri"/>
              </a:rPr>
              <a:t>www.ligue-normandie-tt.fr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0840" y="5120640"/>
            <a:ext cx="6858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 i="0">
                <a:solidFill>
                  <a:srgbClr val="F4B414"/>
                </a:solidFill>
                <a:latin typeface="Segoe UI Emoji"/>
              </a:rPr>
              <a:t>@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43800" y="5102352"/>
            <a:ext cx="4297680" cy="53860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 i="0" dirty="0">
                <a:solidFill>
                  <a:srgbClr val="111111"/>
                </a:solidFill>
                <a:latin typeface="Calibri"/>
              </a:rPr>
              <a:t>Code</a:t>
            </a:r>
            <a:r>
              <a:rPr sz="1300" b="1" i="0" dirty="0">
                <a:solidFill>
                  <a:srgbClr val="111111"/>
                </a:solidFill>
                <a:latin typeface="Calibri"/>
              </a:rPr>
              <a:t> source</a:t>
            </a:r>
            <a:endParaRPr lang="fr-FR" sz="1300" b="1" i="0" dirty="0">
              <a:solidFill>
                <a:srgbClr val="111111"/>
              </a:solidFill>
              <a:latin typeface="Calibri"/>
            </a:endParaRPr>
          </a:p>
          <a:p>
            <a:endParaRPr sz="1300" b="1" i="0" dirty="0">
              <a:solidFill>
                <a:srgbClr val="111111"/>
              </a:solidFill>
              <a:latin typeface="Calibri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543800" y="5486400"/>
            <a:ext cx="429768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b="0" i="0" dirty="0">
                <a:solidFill>
                  <a:schemeClr val="accent4">
                    <a:lumMod val="75000"/>
                  </a:schemeClr>
                </a:solidFill>
                <a:latin typeface="Calibri"/>
              </a:rPr>
              <a:t>github.com/CHAUTARD/NIJAC</a:t>
            </a:r>
          </a:p>
        </p:txBody>
      </p:sp>
      <p:pic>
        <p:nvPicPr>
          <p:cNvPr id="23" name="Image 22">
            <a:extLst>
              <a:ext uri="{FF2B5EF4-FFF2-40B4-BE49-F238E27FC236}">
                <a16:creationId xmlns:a16="http://schemas.microsoft.com/office/drawing/2014/main" id="{E0DE0DB0-7AB8-F54B-6FEB-7F9D26DA23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7040" y="778552"/>
            <a:ext cx="849025" cy="1134642"/>
          </a:xfrm>
          <a:prstGeom prst="rect">
            <a:avLst/>
          </a:prstGeom>
        </p:spPr>
      </p:pic>
      <p:sp>
        <p:nvSpPr>
          <p:cNvPr id="24" name="ZoneTexte 23">
            <a:extLst>
              <a:ext uri="{FF2B5EF4-FFF2-40B4-BE49-F238E27FC236}">
                <a16:creationId xmlns:a16="http://schemas.microsoft.com/office/drawing/2014/main" id="{61E52F3C-60DA-A9AF-35E6-322A46679D64}"/>
              </a:ext>
            </a:extLst>
          </p:cNvPr>
          <p:cNvSpPr txBox="1"/>
          <p:nvPr/>
        </p:nvSpPr>
        <p:spPr>
          <a:xfrm>
            <a:off x="10280591" y="1958687"/>
            <a:ext cx="172579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dirty="0"/>
              <a:t>Patrick.chautard@free.fr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1823</Words>
  <Application>Microsoft Office PowerPoint</Application>
  <PresentationFormat>Grand écran</PresentationFormat>
  <Paragraphs>192</Paragraphs>
  <Slides>19</Slides>
  <Notes>7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19</vt:i4>
      </vt:variant>
    </vt:vector>
  </HeadingPairs>
  <TitlesOfParts>
    <vt:vector size="24" baseType="lpstr">
      <vt:lpstr>Arial</vt:lpstr>
      <vt:lpstr>Calibri</vt:lpstr>
      <vt:lpstr>Cambria</vt:lpstr>
      <vt:lpstr>Segoe UI Emoji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Patrick CHAUTARD</cp:lastModifiedBy>
  <cp:revision>4</cp:revision>
  <dcterms:created xsi:type="dcterms:W3CDTF">2026-09-09T05:06:47Z</dcterms:created>
  <dcterms:modified xsi:type="dcterms:W3CDTF">2026-09-09T07:47:37Z</dcterms:modified>
</cp:coreProperties>
</file>